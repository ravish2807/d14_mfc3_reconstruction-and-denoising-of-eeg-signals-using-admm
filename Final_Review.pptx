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8288000" cy="10287000"/>
  <p:notesSz cx="6858000" cy="9144000"/>
  <p:embeddedFontLst>
    <p:embeddedFont>
      <p:font typeface="Poppins" panose="00000500000000000000"/>
      <p:regular r:id="rId18"/>
    </p:embeddedFont>
    <p:embeddedFont>
      <p:font typeface="Poppins Bold" panose="00000800000000000000"/>
      <p:bold r:id="rId19"/>
    </p:embeddedFont>
    <p:embeddedFont>
      <p:font typeface="DM Sans"/>
      <p:regular r:id="rId20"/>
    </p:embeddedFont>
    <p:embeddedFont>
      <p:font typeface="Open Sans Light" panose="020B0306030504020204"/>
      <p:regular r:id="rId21"/>
    </p:embeddedFont>
    <p:embeddedFont>
      <p:font typeface="Calibri" panose="020F050202020403020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01622" y="-767350"/>
            <a:ext cx="22013892" cy="12354774"/>
          </a:xfrm>
          <a:custGeom>
            <a:avLst/>
            <a:gdLst/>
            <a:ahLst/>
            <a:cxnLst/>
            <a:rect l="l" t="t" r="r" b="b"/>
            <a:pathLst>
              <a:path w="22013892" h="12354774">
                <a:moveTo>
                  <a:pt x="0" y="0"/>
                </a:moveTo>
                <a:lnTo>
                  <a:pt x="22013891" y="0"/>
                </a:lnTo>
                <a:lnTo>
                  <a:pt x="22013891" y="12354775"/>
                </a:lnTo>
                <a:lnTo>
                  <a:pt x="0" y="12354775"/>
                </a:lnTo>
                <a:lnTo>
                  <a:pt x="0" y="0"/>
                </a:lnTo>
                <a:close/>
              </a:path>
            </a:pathLst>
          </a:custGeom>
          <a:blipFill>
            <a:blip r:embed="rId1"/>
            <a:stretch>
              <a:fillRect t="-9467" b="-9467"/>
            </a:stretch>
          </a:blipFill>
        </p:spPr>
      </p:sp>
      <p:grpSp>
        <p:nvGrpSpPr>
          <p:cNvPr id="3" name="Group 3"/>
          <p:cNvGrpSpPr/>
          <p:nvPr/>
        </p:nvGrpSpPr>
        <p:grpSpPr>
          <a:xfrm rot="0">
            <a:off x="-1085174" y="-445819"/>
            <a:ext cx="22453902" cy="11711713"/>
            <a:chOff x="0" y="0"/>
            <a:chExt cx="5913785" cy="3084566"/>
          </a:xfrm>
        </p:grpSpPr>
        <p:sp>
          <p:nvSpPr>
            <p:cNvPr id="4" name="Freeform 4"/>
            <p:cNvSpPr/>
            <p:nvPr/>
          </p:nvSpPr>
          <p:spPr>
            <a:xfrm>
              <a:off x="0" y="0"/>
              <a:ext cx="5913785" cy="3084567"/>
            </a:xfrm>
            <a:custGeom>
              <a:avLst/>
              <a:gdLst/>
              <a:ahLst/>
              <a:cxnLst/>
              <a:rect l="l" t="t" r="r" b="b"/>
              <a:pathLst>
                <a:path w="5913785" h="3084567">
                  <a:moveTo>
                    <a:pt x="0" y="0"/>
                  </a:moveTo>
                  <a:lnTo>
                    <a:pt x="5913785" y="0"/>
                  </a:lnTo>
                  <a:lnTo>
                    <a:pt x="5913785" y="3084567"/>
                  </a:lnTo>
                  <a:lnTo>
                    <a:pt x="0" y="3084567"/>
                  </a:lnTo>
                  <a:close/>
                </a:path>
              </a:pathLst>
            </a:custGeom>
            <a:solidFill>
              <a:srgbClr val="AAD7D4">
                <a:alpha val="28627"/>
              </a:srgbClr>
            </a:solidFill>
          </p:spPr>
        </p:sp>
        <p:sp>
          <p:nvSpPr>
            <p:cNvPr id="5" name="TextBox 5"/>
            <p:cNvSpPr txBox="1"/>
            <p:nvPr/>
          </p:nvSpPr>
          <p:spPr>
            <a:xfrm>
              <a:off x="0" y="-38100"/>
              <a:ext cx="5913785" cy="3122666"/>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5285382" y="5811789"/>
            <a:ext cx="6983181" cy="2808336"/>
            <a:chOff x="0" y="0"/>
            <a:chExt cx="1839192" cy="739644"/>
          </a:xfrm>
        </p:grpSpPr>
        <p:sp>
          <p:nvSpPr>
            <p:cNvPr id="7" name="Freeform 7"/>
            <p:cNvSpPr/>
            <p:nvPr/>
          </p:nvSpPr>
          <p:spPr>
            <a:xfrm>
              <a:off x="0" y="0"/>
              <a:ext cx="1839192" cy="739644"/>
            </a:xfrm>
            <a:custGeom>
              <a:avLst/>
              <a:gdLst/>
              <a:ahLst/>
              <a:cxnLst/>
              <a:rect l="l" t="t" r="r" b="b"/>
              <a:pathLst>
                <a:path w="1839192" h="739644">
                  <a:moveTo>
                    <a:pt x="0" y="0"/>
                  </a:moveTo>
                  <a:lnTo>
                    <a:pt x="1839192" y="0"/>
                  </a:lnTo>
                  <a:lnTo>
                    <a:pt x="1839192" y="739644"/>
                  </a:lnTo>
                  <a:lnTo>
                    <a:pt x="0" y="739644"/>
                  </a:lnTo>
                  <a:close/>
                </a:path>
              </a:pathLst>
            </a:custGeom>
            <a:solidFill>
              <a:srgbClr val="AAD7D4"/>
            </a:solidFill>
            <a:ln w="28575" cap="sq">
              <a:solidFill>
                <a:srgbClr val="1C2120"/>
              </a:solidFill>
              <a:prstDash val="solid"/>
              <a:miter/>
            </a:ln>
          </p:spPr>
        </p:sp>
        <p:sp>
          <p:nvSpPr>
            <p:cNvPr id="8" name="TextBox 8"/>
            <p:cNvSpPr txBox="1"/>
            <p:nvPr/>
          </p:nvSpPr>
          <p:spPr>
            <a:xfrm>
              <a:off x="0" y="-57150"/>
              <a:ext cx="1839192" cy="796794"/>
            </a:xfrm>
            <a:prstGeom prst="rect">
              <a:avLst/>
            </a:prstGeom>
          </p:spPr>
          <p:txBody>
            <a:bodyPr lIns="50800" tIns="50800" rIns="50800" bIns="50800" rtlCol="0" anchor="ctr"/>
            <a:lstStyle/>
            <a:p>
              <a:pPr algn="ctr">
                <a:lnSpc>
                  <a:spcPts val="3080"/>
                </a:lnSpc>
              </a:pPr>
              <a:r>
                <a:rPr lang="en-US" sz="2200">
                  <a:solidFill>
                    <a:srgbClr val="000000"/>
                  </a:solidFill>
                  <a:latin typeface="Poppins" panose="00000500000000000000"/>
                  <a:ea typeface="Poppins" panose="00000500000000000000"/>
                  <a:cs typeface="Poppins" panose="00000500000000000000"/>
                  <a:sym typeface="Poppins" panose="00000500000000000000"/>
                </a:rPr>
                <a:t>Ravishanmugam K    -- CB.SC.U4AIE24347 </a:t>
              </a:r>
              <a:r>
                <a:rPr lang="en-US" sz="2200">
                  <a:solidFill>
                    <a:srgbClr val="000000"/>
                  </a:solidFill>
                  <a:latin typeface="Poppins" panose="00000500000000000000"/>
                  <a:ea typeface="Poppins" panose="00000500000000000000"/>
                  <a:cs typeface="Poppins" panose="00000500000000000000"/>
                  <a:sym typeface="Poppins" panose="00000500000000000000"/>
                </a:rPr>
                <a:t>​</a:t>
              </a:r>
              <a:endParaRPr lang="en-US" sz="2200">
                <a:solidFill>
                  <a:srgbClr val="000000"/>
                </a:solidFill>
                <a:latin typeface="Poppins" panose="00000500000000000000"/>
                <a:ea typeface="Poppins" panose="00000500000000000000"/>
                <a:cs typeface="Poppins" panose="00000500000000000000"/>
                <a:sym typeface="Poppins" panose="00000500000000000000"/>
              </a:endParaRPr>
            </a:p>
            <a:p>
              <a:pPr algn="ctr">
                <a:lnSpc>
                  <a:spcPts val="3080"/>
                </a:lnSpc>
              </a:pPr>
              <a:r>
                <a:rPr lang="en-US" sz="2200">
                  <a:solidFill>
                    <a:srgbClr val="000000"/>
                  </a:solidFill>
                  <a:latin typeface="Poppins" panose="00000500000000000000"/>
                  <a:ea typeface="Poppins" panose="00000500000000000000"/>
                  <a:cs typeface="Poppins" panose="00000500000000000000"/>
                  <a:sym typeface="Poppins" panose="00000500000000000000"/>
                </a:rPr>
                <a:t>Sharvesh Sivaganam  -- CB.SC.U4AIE24355</a:t>
              </a:r>
              <a:r>
                <a:rPr lang="en-US" sz="2200">
                  <a:solidFill>
                    <a:srgbClr val="000000"/>
                  </a:solidFill>
                  <a:latin typeface="Poppins" panose="00000500000000000000"/>
                  <a:ea typeface="Poppins" panose="00000500000000000000"/>
                  <a:cs typeface="Poppins" panose="00000500000000000000"/>
                  <a:sym typeface="Poppins" panose="00000500000000000000"/>
                </a:rPr>
                <a:t>​</a:t>
              </a:r>
              <a:endParaRPr lang="en-US" sz="2200">
                <a:solidFill>
                  <a:srgbClr val="000000"/>
                </a:solidFill>
                <a:latin typeface="Poppins" panose="00000500000000000000"/>
                <a:ea typeface="Poppins" panose="00000500000000000000"/>
                <a:cs typeface="Poppins" panose="00000500000000000000"/>
                <a:sym typeface="Poppins" panose="00000500000000000000"/>
              </a:endParaRPr>
            </a:p>
            <a:p>
              <a:pPr algn="ctr">
                <a:lnSpc>
                  <a:spcPts val="3080"/>
                </a:lnSpc>
              </a:pPr>
              <a:r>
                <a:rPr lang="en-US" sz="2200">
                  <a:solidFill>
                    <a:srgbClr val="000000"/>
                  </a:solidFill>
                  <a:latin typeface="Poppins" panose="00000500000000000000"/>
                  <a:ea typeface="Poppins" panose="00000500000000000000"/>
                  <a:cs typeface="Poppins" panose="00000500000000000000"/>
                  <a:sym typeface="Poppins" panose="00000500000000000000"/>
                </a:rPr>
                <a:t>Sri Harini MP         -- CB.SC.U4AIE24358</a:t>
              </a:r>
              <a:r>
                <a:rPr lang="en-US" sz="2200">
                  <a:solidFill>
                    <a:srgbClr val="000000"/>
                  </a:solidFill>
                  <a:latin typeface="Poppins" panose="00000500000000000000"/>
                  <a:ea typeface="Poppins" panose="00000500000000000000"/>
                  <a:cs typeface="Poppins" panose="00000500000000000000"/>
                  <a:sym typeface="Poppins" panose="00000500000000000000"/>
                </a:rPr>
                <a:t>​</a:t>
              </a:r>
              <a:endParaRPr lang="en-US" sz="2200">
                <a:solidFill>
                  <a:srgbClr val="000000"/>
                </a:solidFill>
                <a:latin typeface="Poppins" panose="00000500000000000000"/>
                <a:ea typeface="Poppins" panose="00000500000000000000"/>
                <a:cs typeface="Poppins" panose="00000500000000000000"/>
                <a:sym typeface="Poppins" panose="00000500000000000000"/>
              </a:endParaRPr>
            </a:p>
            <a:p>
              <a:pPr algn="ctr">
                <a:lnSpc>
                  <a:spcPts val="3080"/>
                </a:lnSpc>
              </a:pPr>
              <a:r>
                <a:rPr lang="en-US" sz="2200">
                  <a:solidFill>
                    <a:srgbClr val="000000"/>
                  </a:solidFill>
                  <a:latin typeface="Poppins" panose="00000500000000000000"/>
                  <a:ea typeface="Poppins" panose="00000500000000000000"/>
                  <a:cs typeface="Poppins" panose="00000500000000000000"/>
                  <a:sym typeface="Poppins" panose="00000500000000000000"/>
                </a:rPr>
                <a:t>Vignes VM            -- CB.SC.U4AIE24359</a:t>
              </a:r>
              <a:endParaRPr lang="en-US" sz="2200">
                <a:solidFill>
                  <a:srgbClr val="000000"/>
                </a:solidFill>
                <a:latin typeface="Poppins" panose="00000500000000000000"/>
                <a:ea typeface="Poppins" panose="00000500000000000000"/>
                <a:cs typeface="Poppins" panose="00000500000000000000"/>
                <a:sym typeface="Poppins" panose="00000500000000000000"/>
              </a:endParaRPr>
            </a:p>
          </p:txBody>
        </p:sp>
      </p:grpSp>
      <p:sp>
        <p:nvSpPr>
          <p:cNvPr id="9" name="TextBox 9"/>
          <p:cNvSpPr txBox="1"/>
          <p:nvPr/>
        </p:nvSpPr>
        <p:spPr>
          <a:xfrm>
            <a:off x="2610563" y="2834325"/>
            <a:ext cx="13066873" cy="1459230"/>
          </a:xfrm>
          <a:prstGeom prst="rect">
            <a:avLst/>
          </a:prstGeom>
        </p:spPr>
        <p:txBody>
          <a:bodyPr lIns="0" tIns="0" rIns="0" bIns="0" rtlCol="0" anchor="t">
            <a:spAutoFit/>
          </a:bodyPr>
          <a:lstStyle/>
          <a:p>
            <a:pPr algn="ctr">
              <a:lnSpc>
                <a:spcPts val="5460"/>
              </a:lnSpc>
            </a:pPr>
            <a:r>
              <a:rPr lang="en-US" sz="6500" spc="-351">
                <a:solidFill>
                  <a:srgbClr val="1C2120"/>
                </a:solidFill>
                <a:latin typeface="Bobby Jones"/>
                <a:ea typeface="Bobby Jones"/>
                <a:cs typeface="Bobby Jones"/>
                <a:sym typeface="Bobby Jones"/>
              </a:rPr>
              <a:t>RECONSTRUCTION AND DENOISING OF THE EEG SIGNAL USING THE ADMM​</a:t>
            </a:r>
            <a:endParaRPr lang="en-US" sz="6500" spc="-351">
              <a:solidFill>
                <a:srgbClr val="1C2120"/>
              </a:solidFill>
              <a:latin typeface="Bobby Jones"/>
              <a:ea typeface="Bobby Jones"/>
              <a:cs typeface="Bobby Jones"/>
              <a:sym typeface="Bobby Jones"/>
            </a:endParaRPr>
          </a:p>
        </p:txBody>
      </p:sp>
      <p:sp>
        <p:nvSpPr>
          <p:cNvPr id="10" name="TextBox 10"/>
          <p:cNvSpPr txBox="1"/>
          <p:nvPr/>
        </p:nvSpPr>
        <p:spPr>
          <a:xfrm>
            <a:off x="5549267" y="5924263"/>
            <a:ext cx="6617965" cy="482339"/>
          </a:xfrm>
          <a:prstGeom prst="rect">
            <a:avLst/>
          </a:prstGeom>
        </p:spPr>
        <p:txBody>
          <a:bodyPr lIns="0" tIns="0" rIns="0" bIns="0" rtlCol="0" anchor="t">
            <a:spAutoFit/>
          </a:bodyPr>
          <a:lstStyle/>
          <a:p>
            <a:pPr algn="ctr">
              <a:lnSpc>
                <a:spcPts val="3445"/>
              </a:lnSpc>
            </a:pPr>
            <a:r>
              <a:rPr lang="en-US" sz="3445" spc="-68">
                <a:solidFill>
                  <a:srgbClr val="1C2120"/>
                </a:solidFill>
                <a:latin typeface="Poppins" panose="00000500000000000000"/>
                <a:ea typeface="Poppins" panose="00000500000000000000"/>
                <a:cs typeface="Poppins" panose="00000500000000000000"/>
                <a:sym typeface="Poppins" panose="00000500000000000000"/>
              </a:rPr>
              <a:t>GROUP-14</a:t>
            </a:r>
            <a:endParaRPr lang="en-US" sz="3445" spc="-68">
              <a:solidFill>
                <a:srgbClr val="1C2120"/>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6082335" y="9482418"/>
            <a:ext cx="1761263" cy="582575"/>
            <a:chOff x="0" y="0"/>
            <a:chExt cx="463872" cy="153435"/>
          </a:xfrm>
        </p:grpSpPr>
        <p:sp>
          <p:nvSpPr>
            <p:cNvPr id="3" name="Freeform 3"/>
            <p:cNvSpPr/>
            <p:nvPr/>
          </p:nvSpPr>
          <p:spPr>
            <a:xfrm>
              <a:off x="0" y="0"/>
              <a:ext cx="463872" cy="153435"/>
            </a:xfrm>
            <a:custGeom>
              <a:avLst/>
              <a:gdLst/>
              <a:ahLst/>
              <a:cxnLst/>
              <a:rect l="l" t="t" r="r" b="b"/>
              <a:pathLst>
                <a:path w="463872" h="153435">
                  <a:moveTo>
                    <a:pt x="76718" y="0"/>
                  </a:moveTo>
                  <a:lnTo>
                    <a:pt x="387154" y="0"/>
                  </a:lnTo>
                  <a:cubicBezTo>
                    <a:pt x="407501" y="0"/>
                    <a:pt x="427014" y="8083"/>
                    <a:pt x="441402" y="22470"/>
                  </a:cubicBezTo>
                  <a:cubicBezTo>
                    <a:pt x="455789" y="36857"/>
                    <a:pt x="463872" y="56371"/>
                    <a:pt x="463872" y="76718"/>
                  </a:cubicBezTo>
                  <a:lnTo>
                    <a:pt x="463872" y="76718"/>
                  </a:lnTo>
                  <a:cubicBezTo>
                    <a:pt x="463872" y="97064"/>
                    <a:pt x="455789" y="116578"/>
                    <a:pt x="441402" y="130965"/>
                  </a:cubicBezTo>
                  <a:cubicBezTo>
                    <a:pt x="427014" y="145353"/>
                    <a:pt x="407501" y="153435"/>
                    <a:pt x="387154"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4" name="TextBox 4"/>
            <p:cNvSpPr txBox="1"/>
            <p:nvPr/>
          </p:nvSpPr>
          <p:spPr>
            <a:xfrm>
              <a:off x="0" y="-38100"/>
              <a:ext cx="463872" cy="191535"/>
            </a:xfrm>
            <a:prstGeom prst="rect">
              <a:avLst/>
            </a:prstGeom>
          </p:spPr>
          <p:txBody>
            <a:bodyPr lIns="50800" tIns="50800" rIns="50800" bIns="50800" rtlCol="0" anchor="ctr"/>
            <a:lstStyle/>
            <a:p>
              <a:pPr algn="ctr">
                <a:lnSpc>
                  <a:spcPts val="2660"/>
                </a:lnSpc>
              </a:pPr>
            </a:p>
          </p:txBody>
        </p:sp>
      </p:grpSp>
      <p:sp>
        <p:nvSpPr>
          <p:cNvPr id="5" name="Freeform 5"/>
          <p:cNvSpPr/>
          <p:nvPr/>
        </p:nvSpPr>
        <p:spPr>
          <a:xfrm>
            <a:off x="325990" y="2439980"/>
            <a:ext cx="7477523" cy="5407039"/>
          </a:xfrm>
          <a:custGeom>
            <a:avLst/>
            <a:gdLst/>
            <a:ahLst/>
            <a:cxnLst/>
            <a:rect l="l" t="t" r="r" b="b"/>
            <a:pathLst>
              <a:path w="7477523" h="5407039">
                <a:moveTo>
                  <a:pt x="0" y="0"/>
                </a:moveTo>
                <a:lnTo>
                  <a:pt x="7477523" y="0"/>
                </a:lnTo>
                <a:lnTo>
                  <a:pt x="7477523" y="5407040"/>
                </a:lnTo>
                <a:lnTo>
                  <a:pt x="0" y="5407040"/>
                </a:lnTo>
                <a:lnTo>
                  <a:pt x="0" y="0"/>
                </a:lnTo>
                <a:close/>
              </a:path>
            </a:pathLst>
          </a:custGeom>
          <a:blipFill>
            <a:blip r:embed="rId1"/>
            <a:stretch>
              <a:fillRect r="-14290"/>
            </a:stretch>
          </a:blipFill>
        </p:spPr>
      </p:sp>
      <p:sp>
        <p:nvSpPr>
          <p:cNvPr id="6" name="TextBox 6"/>
          <p:cNvSpPr txBox="1"/>
          <p:nvPr/>
        </p:nvSpPr>
        <p:spPr>
          <a:xfrm>
            <a:off x="5138005" y="647891"/>
            <a:ext cx="8011990" cy="1148033"/>
          </a:xfrm>
          <a:prstGeom prst="rect">
            <a:avLst/>
          </a:prstGeom>
        </p:spPr>
        <p:txBody>
          <a:bodyPr lIns="0" tIns="0" rIns="0" bIns="0" rtlCol="0" anchor="t">
            <a:spAutoFit/>
          </a:bodyPr>
          <a:lstStyle/>
          <a:p>
            <a:pPr algn="l">
              <a:lnSpc>
                <a:spcPts val="7935"/>
              </a:lnSpc>
            </a:pPr>
            <a:r>
              <a:rPr lang="en-US" sz="8180" b="1">
                <a:solidFill>
                  <a:srgbClr val="1C2120"/>
                </a:solidFill>
                <a:latin typeface="Poppins Bold" panose="00000800000000000000"/>
                <a:ea typeface="Poppins Bold" panose="00000800000000000000"/>
                <a:cs typeface="Poppins Bold" panose="00000800000000000000"/>
                <a:sym typeface="Poppins Bold" panose="00000800000000000000"/>
              </a:rPr>
              <a:t>Introduction</a:t>
            </a:r>
            <a:endParaRPr lang="en-US" sz="818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7" name="TextBox 7"/>
          <p:cNvSpPr txBox="1"/>
          <p:nvPr/>
        </p:nvSpPr>
        <p:spPr>
          <a:xfrm>
            <a:off x="8270781" y="2151087"/>
            <a:ext cx="7898287" cy="7431063"/>
          </a:xfrm>
          <a:prstGeom prst="rect">
            <a:avLst/>
          </a:prstGeom>
        </p:spPr>
        <p:txBody>
          <a:bodyPr lIns="0" tIns="0" rIns="0" bIns="0" rtlCol="0" anchor="t">
            <a:spAutoFit/>
          </a:bodyPr>
          <a:lstStyle/>
          <a:p>
            <a:pPr marL="414020" lvl="1" indent="-207010" algn="l">
              <a:lnSpc>
                <a:spcPts val="2590"/>
              </a:lnSpc>
              <a:buFont typeface="Arial" panose="020B0604020202020204"/>
              <a:buChar char="•"/>
            </a:pPr>
            <a:r>
              <a:rPr lang="en-US" sz="1915" spc="115">
                <a:solidFill>
                  <a:srgbClr val="000000"/>
                </a:solidFill>
                <a:latin typeface="DM Sans"/>
                <a:ea typeface="DM Sans"/>
                <a:cs typeface="DM Sans"/>
                <a:sym typeface="DM Sans"/>
              </a:rPr>
              <a:t>EEG signals, which captu</a:t>
            </a:r>
            <a:r>
              <a:rPr lang="en-US" sz="1915" u="none" spc="115">
                <a:solidFill>
                  <a:srgbClr val="000000"/>
                </a:solidFill>
                <a:latin typeface="DM Sans"/>
                <a:ea typeface="DM Sans"/>
                <a:cs typeface="DM Sans"/>
                <a:sym typeface="DM Sans"/>
              </a:rPr>
              <a:t>re the brain’s weak electrical activity, are often corrupted by noise such as equipment interference and motion artifacts. To analyze them effectively, it is essential to reconstruct and denoise the signals without losing important details.</a:t>
            </a:r>
            <a:endParaRPr lang="en-US" sz="1915" u="none" spc="115">
              <a:solidFill>
                <a:srgbClr val="000000"/>
              </a:solidFill>
              <a:latin typeface="DM Sans"/>
              <a:ea typeface="DM Sans"/>
              <a:cs typeface="DM Sans"/>
              <a:sym typeface="DM Sans"/>
            </a:endParaRPr>
          </a:p>
          <a:p>
            <a:pPr algn="l">
              <a:lnSpc>
                <a:spcPts val="2590"/>
              </a:lnSpc>
            </a:pPr>
          </a:p>
          <a:p>
            <a:pPr marL="414020" lvl="1" indent="-207010" algn="l">
              <a:lnSpc>
                <a:spcPts val="2590"/>
              </a:lnSpc>
              <a:buFont typeface="Arial" panose="020B0604020202020204"/>
              <a:buChar char="•"/>
            </a:pPr>
            <a:r>
              <a:rPr lang="en-US" sz="1915" u="none" spc="115">
                <a:solidFill>
                  <a:srgbClr val="000000"/>
                </a:solidFill>
                <a:latin typeface="DM Sans"/>
                <a:ea typeface="DM Sans"/>
                <a:cs typeface="DM Sans"/>
                <a:sym typeface="DM Sans"/>
              </a:rPr>
              <a:t>Traditional methods like compressed sensing can recover EEG signals from fewer samples but often lack accuracy and efficiency. </a:t>
            </a:r>
            <a:endParaRPr lang="en-US" sz="1915" u="none" spc="115">
              <a:solidFill>
                <a:srgbClr val="000000"/>
              </a:solidFill>
              <a:latin typeface="DM Sans"/>
              <a:ea typeface="DM Sans"/>
              <a:cs typeface="DM Sans"/>
              <a:sym typeface="DM Sans"/>
            </a:endParaRPr>
          </a:p>
          <a:p>
            <a:pPr algn="l">
              <a:lnSpc>
                <a:spcPts val="2590"/>
              </a:lnSpc>
            </a:pPr>
          </a:p>
          <a:p>
            <a:pPr marL="414020" lvl="1" indent="-207010" algn="l">
              <a:lnSpc>
                <a:spcPts val="2590"/>
              </a:lnSpc>
              <a:buFont typeface="Arial" panose="020B0604020202020204"/>
              <a:buChar char="•"/>
            </a:pPr>
            <a:r>
              <a:rPr lang="en-US" sz="1915" u="none" spc="115">
                <a:solidFill>
                  <a:srgbClr val="000000"/>
                </a:solidFill>
                <a:latin typeface="DM Sans"/>
                <a:ea typeface="DM Sans"/>
                <a:cs typeface="DM Sans"/>
                <a:sym typeface="DM Sans"/>
              </a:rPr>
              <a:t>This work applies the Alternating Direction Method of Multipliers (ADMM) to overcome these issues. ADMM breaks complex optimization problems into smaller, iterative subproblems, enabling precise and efficient signal reconstruction.</a:t>
            </a:r>
            <a:endParaRPr lang="en-US" sz="1915" u="none" spc="115">
              <a:solidFill>
                <a:srgbClr val="000000"/>
              </a:solidFill>
              <a:latin typeface="DM Sans"/>
              <a:ea typeface="DM Sans"/>
              <a:cs typeface="DM Sans"/>
              <a:sym typeface="DM Sans"/>
            </a:endParaRPr>
          </a:p>
          <a:p>
            <a:pPr algn="l">
              <a:lnSpc>
                <a:spcPts val="2590"/>
              </a:lnSpc>
            </a:pPr>
          </a:p>
          <a:p>
            <a:pPr marL="414020" lvl="1" indent="-207010" algn="l">
              <a:lnSpc>
                <a:spcPts val="2590"/>
              </a:lnSpc>
              <a:buFont typeface="Arial" panose="020B0604020202020204"/>
              <a:buChar char="•"/>
            </a:pPr>
            <a:r>
              <a:rPr lang="en-US" sz="1915" u="none" spc="115">
                <a:solidFill>
                  <a:srgbClr val="000000"/>
                </a:solidFill>
                <a:latin typeface="DM Sans"/>
                <a:ea typeface="DM Sans"/>
                <a:cs typeface="DM Sans"/>
                <a:sym typeface="DM Sans"/>
              </a:rPr>
              <a:t>Using EEG data from PhysioNet, the study reconstructs signals from limited observations using an ℓ₁-regularized objective and soft-thresholding to enhance sparsity. </a:t>
            </a:r>
            <a:endParaRPr lang="en-US" sz="1915" u="none" spc="115">
              <a:solidFill>
                <a:srgbClr val="000000"/>
              </a:solidFill>
              <a:latin typeface="DM Sans"/>
              <a:ea typeface="DM Sans"/>
              <a:cs typeface="DM Sans"/>
              <a:sym typeface="DM Sans"/>
            </a:endParaRPr>
          </a:p>
          <a:p>
            <a:pPr algn="l">
              <a:lnSpc>
                <a:spcPts val="2590"/>
              </a:lnSpc>
            </a:pPr>
          </a:p>
          <a:p>
            <a:pPr marL="414020" lvl="1" indent="-207010" algn="l">
              <a:lnSpc>
                <a:spcPts val="2590"/>
              </a:lnSpc>
              <a:buFont typeface="Arial" panose="020B0604020202020204"/>
              <a:buChar char="•"/>
            </a:pPr>
            <a:r>
              <a:rPr lang="en-US" sz="1915" u="none" spc="115">
                <a:solidFill>
                  <a:srgbClr val="000000"/>
                </a:solidFill>
                <a:latin typeface="DM Sans"/>
                <a:ea typeface="DM Sans"/>
                <a:cs typeface="DM Sans"/>
                <a:sym typeface="DM Sans"/>
              </a:rPr>
              <a:t>Additional denoising under Gaussian and Laplacian noise is achieved through a Lasso-based ADMM approach. </a:t>
            </a:r>
            <a:endParaRPr lang="en-US" sz="1915" u="none" spc="115">
              <a:solidFill>
                <a:srgbClr val="000000"/>
              </a:solidFill>
              <a:latin typeface="DM Sans"/>
              <a:ea typeface="DM Sans"/>
              <a:cs typeface="DM Sans"/>
              <a:sym typeface="DM Sans"/>
            </a:endParaRPr>
          </a:p>
          <a:p>
            <a:pPr algn="l">
              <a:lnSpc>
                <a:spcPts val="2590"/>
              </a:lnSpc>
            </a:pPr>
          </a:p>
        </p:txBody>
      </p:sp>
      <p:sp>
        <p:nvSpPr>
          <p:cNvPr id="8" name="TextBox 8"/>
          <p:cNvSpPr txBox="1"/>
          <p:nvPr/>
        </p:nvSpPr>
        <p:spPr>
          <a:xfrm>
            <a:off x="15497297" y="9618900"/>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6082335" y="9482418"/>
            <a:ext cx="1761263" cy="582575"/>
            <a:chOff x="0" y="0"/>
            <a:chExt cx="463872" cy="153435"/>
          </a:xfrm>
        </p:grpSpPr>
        <p:sp>
          <p:nvSpPr>
            <p:cNvPr id="3" name="Freeform 3"/>
            <p:cNvSpPr/>
            <p:nvPr/>
          </p:nvSpPr>
          <p:spPr>
            <a:xfrm>
              <a:off x="0" y="0"/>
              <a:ext cx="463872" cy="153435"/>
            </a:xfrm>
            <a:custGeom>
              <a:avLst/>
              <a:gdLst/>
              <a:ahLst/>
              <a:cxnLst/>
              <a:rect l="l" t="t" r="r" b="b"/>
              <a:pathLst>
                <a:path w="463872" h="153435">
                  <a:moveTo>
                    <a:pt x="76718" y="0"/>
                  </a:moveTo>
                  <a:lnTo>
                    <a:pt x="387154" y="0"/>
                  </a:lnTo>
                  <a:cubicBezTo>
                    <a:pt x="407501" y="0"/>
                    <a:pt x="427014" y="8083"/>
                    <a:pt x="441402" y="22470"/>
                  </a:cubicBezTo>
                  <a:cubicBezTo>
                    <a:pt x="455789" y="36857"/>
                    <a:pt x="463872" y="56371"/>
                    <a:pt x="463872" y="76718"/>
                  </a:cubicBezTo>
                  <a:lnTo>
                    <a:pt x="463872" y="76718"/>
                  </a:lnTo>
                  <a:cubicBezTo>
                    <a:pt x="463872" y="97064"/>
                    <a:pt x="455789" y="116578"/>
                    <a:pt x="441402" y="130965"/>
                  </a:cubicBezTo>
                  <a:cubicBezTo>
                    <a:pt x="427014" y="145353"/>
                    <a:pt x="407501" y="153435"/>
                    <a:pt x="387154"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4" name="TextBox 4"/>
            <p:cNvSpPr txBox="1"/>
            <p:nvPr/>
          </p:nvSpPr>
          <p:spPr>
            <a:xfrm>
              <a:off x="0" y="-38100"/>
              <a:ext cx="463872" cy="191535"/>
            </a:xfrm>
            <a:prstGeom prst="rect">
              <a:avLst/>
            </a:prstGeom>
          </p:spPr>
          <p:txBody>
            <a:bodyPr lIns="50800" tIns="50800" rIns="50800" bIns="50800" rtlCol="0" anchor="ctr"/>
            <a:lstStyle/>
            <a:p>
              <a:pPr algn="ctr">
                <a:lnSpc>
                  <a:spcPts val="2660"/>
                </a:lnSpc>
              </a:pPr>
            </a:p>
          </p:txBody>
        </p:sp>
      </p:grpSp>
      <p:sp>
        <p:nvSpPr>
          <p:cNvPr id="5" name="Freeform 5"/>
          <p:cNvSpPr/>
          <p:nvPr/>
        </p:nvSpPr>
        <p:spPr>
          <a:xfrm>
            <a:off x="174658" y="2326023"/>
            <a:ext cx="7969559" cy="5878433"/>
          </a:xfrm>
          <a:custGeom>
            <a:avLst/>
            <a:gdLst/>
            <a:ahLst/>
            <a:cxnLst/>
            <a:rect l="l" t="t" r="r" b="b"/>
            <a:pathLst>
              <a:path w="7969559" h="5878433">
                <a:moveTo>
                  <a:pt x="0" y="0"/>
                </a:moveTo>
                <a:lnTo>
                  <a:pt x="7969560" y="0"/>
                </a:lnTo>
                <a:lnTo>
                  <a:pt x="7969560" y="5878433"/>
                </a:lnTo>
                <a:lnTo>
                  <a:pt x="0" y="5878433"/>
                </a:lnTo>
                <a:lnTo>
                  <a:pt x="0" y="0"/>
                </a:lnTo>
                <a:close/>
              </a:path>
            </a:pathLst>
          </a:custGeom>
          <a:blipFill>
            <a:blip r:embed="rId1"/>
            <a:stretch>
              <a:fillRect r="-5940"/>
            </a:stretch>
          </a:blipFill>
        </p:spPr>
      </p:sp>
      <p:sp>
        <p:nvSpPr>
          <p:cNvPr id="6" name="TextBox 6"/>
          <p:cNvSpPr txBox="1"/>
          <p:nvPr/>
        </p:nvSpPr>
        <p:spPr>
          <a:xfrm>
            <a:off x="3393070" y="634365"/>
            <a:ext cx="11758865" cy="1148033"/>
          </a:xfrm>
          <a:prstGeom prst="rect">
            <a:avLst/>
          </a:prstGeom>
        </p:spPr>
        <p:txBody>
          <a:bodyPr lIns="0" tIns="0" rIns="0" bIns="0" rtlCol="0" anchor="t">
            <a:spAutoFit/>
          </a:bodyPr>
          <a:lstStyle/>
          <a:p>
            <a:pPr algn="l">
              <a:lnSpc>
                <a:spcPts val="7935"/>
              </a:lnSpc>
            </a:pPr>
            <a:r>
              <a:rPr lang="en-US" sz="8180" b="1">
                <a:solidFill>
                  <a:srgbClr val="1C2120"/>
                </a:solidFill>
                <a:latin typeface="Poppins Bold" panose="00000800000000000000"/>
                <a:ea typeface="Poppins Bold" panose="00000800000000000000"/>
                <a:cs typeface="Poppins Bold" panose="00000800000000000000"/>
                <a:sym typeface="Poppins Bold" panose="00000800000000000000"/>
              </a:rPr>
              <a:t>Dataset Description</a:t>
            </a:r>
            <a:endParaRPr lang="en-US" sz="818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7" name="TextBox 7"/>
          <p:cNvSpPr txBox="1"/>
          <p:nvPr/>
        </p:nvSpPr>
        <p:spPr>
          <a:xfrm>
            <a:off x="8595420" y="1884805"/>
            <a:ext cx="9248178" cy="7573066"/>
          </a:xfrm>
          <a:prstGeom prst="rect">
            <a:avLst/>
          </a:prstGeom>
        </p:spPr>
        <p:txBody>
          <a:bodyPr lIns="0" tIns="0" rIns="0" bIns="0" rtlCol="0" anchor="t">
            <a:spAutoFit/>
          </a:bodyPr>
          <a:lstStyle/>
          <a:p>
            <a:pPr marL="414020" lvl="1" indent="-207010" algn="just">
              <a:lnSpc>
                <a:spcPts val="2895"/>
              </a:lnSpc>
              <a:buFont typeface="Arial" panose="020B0604020202020204"/>
              <a:buChar char="•"/>
            </a:pPr>
            <a:r>
              <a:rPr lang="en-US" sz="1915" spc="140">
                <a:solidFill>
                  <a:srgbClr val="000000"/>
                </a:solidFill>
                <a:latin typeface="DM Sans"/>
                <a:ea typeface="DM Sans"/>
                <a:cs typeface="DM Sans"/>
                <a:sym typeface="DM Sans"/>
              </a:rPr>
              <a:t>EEG During Mental Arithmetic Tasks f</a:t>
            </a:r>
            <a:r>
              <a:rPr lang="en-US" sz="1915" u="none" spc="140">
                <a:solidFill>
                  <a:srgbClr val="000000"/>
                </a:solidFill>
                <a:latin typeface="DM Sans"/>
                <a:ea typeface="DM Sans"/>
                <a:cs typeface="DM Sans"/>
                <a:sym typeface="DM Sans"/>
              </a:rPr>
              <a:t>rom the Physionet.​</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36 Subjects from age 16 to 26, both female and male.​</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Performed both good and bad quality mental expression.​</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EEG were recorded monopolarly using Neurocom EEG 23-Channel system(Ukraine, XAI-MEDICA).​</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The EEGs were recorded monopolarly using Neurocom EEG 23-channel system (Ukraine, XAI-MEDICA). The silver/silver chloride electrodes were placed on the scalp according to the International 10/20 scheme. All electrodes were referenced to the interconnected ear reference electrodes.​</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The data files with EEG are provided in EDF (European Data Format) format. ​</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with "_1" suffix -- the recording of the background EEG of a subject (before mental arithmetic task)​</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with "_2" suffix -- the recording of EEG during the mental arithmetic task.​</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Group "G" (24 subjects) performing good quality count (Mean number of operations per 4 minutes = 21, SD = 7.4).​</a:t>
            </a:r>
            <a:endParaRPr lang="en-US" sz="1915" u="none" spc="140">
              <a:solidFill>
                <a:srgbClr val="000000"/>
              </a:solidFill>
              <a:latin typeface="DM Sans"/>
              <a:ea typeface="DM Sans"/>
              <a:cs typeface="DM Sans"/>
              <a:sym typeface="DM Sans"/>
            </a:endParaRPr>
          </a:p>
          <a:p>
            <a:pPr marL="414020" lvl="1" indent="-207010" algn="just">
              <a:lnSpc>
                <a:spcPts val="2895"/>
              </a:lnSpc>
              <a:buFont typeface="Arial" panose="020B0604020202020204"/>
              <a:buChar char="•"/>
            </a:pPr>
            <a:r>
              <a:rPr lang="en-US" sz="1915" u="none" spc="140">
                <a:solidFill>
                  <a:srgbClr val="000000"/>
                </a:solidFill>
                <a:latin typeface="DM Sans"/>
                <a:ea typeface="DM Sans"/>
                <a:cs typeface="DM Sans"/>
                <a:sym typeface="DM Sans"/>
              </a:rPr>
              <a:t>Group "B" (12 subjects) performing bad quality count (Mean number of operations per 4 minutes = 7, SD = 3.6).​</a:t>
            </a:r>
            <a:endParaRPr lang="en-US" sz="1915" u="none" spc="140">
              <a:solidFill>
                <a:srgbClr val="000000"/>
              </a:solidFill>
              <a:latin typeface="DM Sans"/>
              <a:ea typeface="DM Sans"/>
              <a:cs typeface="DM Sans"/>
              <a:sym typeface="DM Sans"/>
            </a:endParaRPr>
          </a:p>
          <a:p>
            <a:pPr algn="just">
              <a:lnSpc>
                <a:spcPts val="2895"/>
              </a:lnSpc>
            </a:pPr>
          </a:p>
        </p:txBody>
      </p:sp>
      <p:sp>
        <p:nvSpPr>
          <p:cNvPr id="8" name="TextBox 8"/>
          <p:cNvSpPr txBox="1"/>
          <p:nvPr/>
        </p:nvSpPr>
        <p:spPr>
          <a:xfrm>
            <a:off x="15497297" y="9618900"/>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0082137" y="600533"/>
            <a:ext cx="6830714" cy="2128485"/>
            <a:chOff x="0" y="0"/>
            <a:chExt cx="2286638" cy="712528"/>
          </a:xfrm>
        </p:grpSpPr>
        <p:sp>
          <p:nvSpPr>
            <p:cNvPr id="3" name="Freeform 3"/>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4" name="TextBox 4"/>
            <p:cNvSpPr txBox="1"/>
            <p:nvPr/>
          </p:nvSpPr>
          <p:spPr>
            <a:xfrm>
              <a:off x="0" y="85725"/>
              <a:ext cx="2286638" cy="626803"/>
            </a:xfrm>
            <a:prstGeom prst="rect">
              <a:avLst/>
            </a:prstGeom>
          </p:spPr>
          <p:txBody>
            <a:bodyPr lIns="50800" tIns="50800" rIns="50800" bIns="50800" rtlCol="0" anchor="ctr"/>
            <a:lstStyle/>
            <a:p>
              <a:pPr algn="ctr">
                <a:lnSpc>
                  <a:spcPts val="1925"/>
                </a:lnSpc>
              </a:pPr>
            </a:p>
          </p:txBody>
        </p:sp>
      </p:grpSp>
      <p:grpSp>
        <p:nvGrpSpPr>
          <p:cNvPr id="5" name="Group 5"/>
          <p:cNvGrpSpPr/>
          <p:nvPr/>
        </p:nvGrpSpPr>
        <p:grpSpPr>
          <a:xfrm rot="0">
            <a:off x="381484" y="9258300"/>
            <a:ext cx="2174989" cy="582575"/>
            <a:chOff x="0" y="0"/>
            <a:chExt cx="572837" cy="153435"/>
          </a:xfrm>
        </p:grpSpPr>
        <p:sp>
          <p:nvSpPr>
            <p:cNvPr id="6" name="Freeform 6"/>
            <p:cNvSpPr/>
            <p:nvPr/>
          </p:nvSpPr>
          <p:spPr>
            <a:xfrm>
              <a:off x="0" y="0"/>
              <a:ext cx="572837" cy="153435"/>
            </a:xfrm>
            <a:custGeom>
              <a:avLst/>
              <a:gdLst/>
              <a:ahLst/>
              <a:cxnLst/>
              <a:rect l="l" t="t" r="r" b="b"/>
              <a:pathLst>
                <a:path w="572837" h="153435">
                  <a:moveTo>
                    <a:pt x="76718" y="0"/>
                  </a:moveTo>
                  <a:lnTo>
                    <a:pt x="496119" y="0"/>
                  </a:lnTo>
                  <a:cubicBezTo>
                    <a:pt x="516466" y="0"/>
                    <a:pt x="535979" y="8083"/>
                    <a:pt x="550366" y="22470"/>
                  </a:cubicBezTo>
                  <a:cubicBezTo>
                    <a:pt x="564754" y="36857"/>
                    <a:pt x="572837" y="56371"/>
                    <a:pt x="572837" y="76718"/>
                  </a:cubicBezTo>
                  <a:lnTo>
                    <a:pt x="572837" y="76718"/>
                  </a:lnTo>
                  <a:cubicBezTo>
                    <a:pt x="572837" y="97064"/>
                    <a:pt x="564754" y="116578"/>
                    <a:pt x="550366" y="130965"/>
                  </a:cubicBezTo>
                  <a:cubicBezTo>
                    <a:pt x="535979" y="145353"/>
                    <a:pt x="516466" y="153435"/>
                    <a:pt x="496119"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7" name="TextBox 7"/>
            <p:cNvSpPr txBox="1"/>
            <p:nvPr/>
          </p:nvSpPr>
          <p:spPr>
            <a:xfrm>
              <a:off x="0" y="-38100"/>
              <a:ext cx="572837" cy="191535"/>
            </a:xfrm>
            <a:prstGeom prst="rect">
              <a:avLst/>
            </a:prstGeom>
          </p:spPr>
          <p:txBody>
            <a:bodyPr lIns="50800" tIns="50800" rIns="50800" bIns="50800" rtlCol="0" anchor="ctr"/>
            <a:lstStyle/>
            <a:p>
              <a:pPr algn="ctr">
                <a:lnSpc>
                  <a:spcPts val="2660"/>
                </a:lnSpc>
              </a:pPr>
            </a:p>
          </p:txBody>
        </p:sp>
      </p:grpSp>
      <p:grpSp>
        <p:nvGrpSpPr>
          <p:cNvPr id="8" name="Group 8"/>
          <p:cNvGrpSpPr/>
          <p:nvPr/>
        </p:nvGrpSpPr>
        <p:grpSpPr>
          <a:xfrm rot="0">
            <a:off x="10082802" y="3035271"/>
            <a:ext cx="6830714" cy="1834502"/>
            <a:chOff x="0" y="0"/>
            <a:chExt cx="2286638" cy="614115"/>
          </a:xfrm>
        </p:grpSpPr>
        <p:sp>
          <p:nvSpPr>
            <p:cNvPr id="9" name="Freeform 9"/>
            <p:cNvSpPr/>
            <p:nvPr/>
          </p:nvSpPr>
          <p:spPr>
            <a:xfrm>
              <a:off x="0" y="0"/>
              <a:ext cx="2286638" cy="614115"/>
            </a:xfrm>
            <a:custGeom>
              <a:avLst/>
              <a:gdLst/>
              <a:ahLst/>
              <a:cxnLst/>
              <a:rect l="l" t="t" r="r" b="b"/>
              <a:pathLst>
                <a:path w="2286638" h="614115">
                  <a:moveTo>
                    <a:pt x="56670" y="0"/>
                  </a:moveTo>
                  <a:lnTo>
                    <a:pt x="2229968" y="0"/>
                  </a:lnTo>
                  <a:cubicBezTo>
                    <a:pt x="2261266" y="0"/>
                    <a:pt x="2286638" y="25372"/>
                    <a:pt x="2286638" y="56670"/>
                  </a:cubicBezTo>
                  <a:lnTo>
                    <a:pt x="2286638" y="557445"/>
                  </a:lnTo>
                  <a:cubicBezTo>
                    <a:pt x="2286638" y="572475"/>
                    <a:pt x="2280667" y="586889"/>
                    <a:pt x="2270040" y="597517"/>
                  </a:cubicBezTo>
                  <a:cubicBezTo>
                    <a:pt x="2259412" y="608144"/>
                    <a:pt x="2244998" y="614115"/>
                    <a:pt x="2229968" y="614115"/>
                  </a:cubicBezTo>
                  <a:lnTo>
                    <a:pt x="56670" y="614115"/>
                  </a:lnTo>
                  <a:cubicBezTo>
                    <a:pt x="25372" y="614115"/>
                    <a:pt x="0" y="588743"/>
                    <a:pt x="0" y="557445"/>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0" name="TextBox 10"/>
            <p:cNvSpPr txBox="1"/>
            <p:nvPr/>
          </p:nvSpPr>
          <p:spPr>
            <a:xfrm>
              <a:off x="0" y="85725"/>
              <a:ext cx="2286638" cy="528390"/>
            </a:xfrm>
            <a:prstGeom prst="rect">
              <a:avLst/>
            </a:prstGeom>
          </p:spPr>
          <p:txBody>
            <a:bodyPr lIns="50800" tIns="50800" rIns="50800" bIns="50800" rtlCol="0" anchor="ctr"/>
            <a:lstStyle/>
            <a:p>
              <a:pPr algn="ctr">
                <a:lnSpc>
                  <a:spcPts val="1925"/>
                </a:lnSpc>
              </a:pPr>
            </a:p>
          </p:txBody>
        </p:sp>
      </p:grpSp>
      <p:grpSp>
        <p:nvGrpSpPr>
          <p:cNvPr id="11" name="Group 11"/>
          <p:cNvGrpSpPr/>
          <p:nvPr/>
        </p:nvGrpSpPr>
        <p:grpSpPr>
          <a:xfrm rot="0">
            <a:off x="10082470" y="5174573"/>
            <a:ext cx="6830714" cy="2128485"/>
            <a:chOff x="0" y="0"/>
            <a:chExt cx="2286638" cy="712528"/>
          </a:xfrm>
        </p:grpSpPr>
        <p:sp>
          <p:nvSpPr>
            <p:cNvPr id="12" name="Freeform 12"/>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3" name="TextBox 13"/>
            <p:cNvSpPr txBox="1"/>
            <p:nvPr/>
          </p:nvSpPr>
          <p:spPr>
            <a:xfrm>
              <a:off x="0" y="85725"/>
              <a:ext cx="2286638" cy="626803"/>
            </a:xfrm>
            <a:prstGeom prst="rect">
              <a:avLst/>
            </a:prstGeom>
          </p:spPr>
          <p:txBody>
            <a:bodyPr lIns="50800" tIns="50800" rIns="50800" bIns="50800" rtlCol="0" anchor="ctr"/>
            <a:lstStyle/>
            <a:p>
              <a:pPr algn="ctr">
                <a:lnSpc>
                  <a:spcPts val="1925"/>
                </a:lnSpc>
              </a:pPr>
            </a:p>
          </p:txBody>
        </p:sp>
      </p:grpSp>
      <p:sp>
        <p:nvSpPr>
          <p:cNvPr id="14" name="Freeform 14"/>
          <p:cNvSpPr/>
          <p:nvPr/>
        </p:nvSpPr>
        <p:spPr>
          <a:xfrm>
            <a:off x="1503852" y="1969987"/>
            <a:ext cx="6564693" cy="3438360"/>
          </a:xfrm>
          <a:custGeom>
            <a:avLst/>
            <a:gdLst/>
            <a:ahLst/>
            <a:cxnLst/>
            <a:rect l="l" t="t" r="r" b="b"/>
            <a:pathLst>
              <a:path w="6564693" h="3438360">
                <a:moveTo>
                  <a:pt x="0" y="0"/>
                </a:moveTo>
                <a:lnTo>
                  <a:pt x="6564694" y="0"/>
                </a:lnTo>
                <a:lnTo>
                  <a:pt x="6564694" y="3438359"/>
                </a:lnTo>
                <a:lnTo>
                  <a:pt x="0" y="3438359"/>
                </a:lnTo>
                <a:lnTo>
                  <a:pt x="0" y="0"/>
                </a:lnTo>
                <a:close/>
              </a:path>
            </a:pathLst>
          </a:custGeom>
          <a:blipFill>
            <a:blip r:embed="rId1"/>
            <a:stretch>
              <a:fillRect t="-3690" b="-3690"/>
            </a:stretch>
          </a:blipFill>
        </p:spPr>
      </p:sp>
      <p:grpSp>
        <p:nvGrpSpPr>
          <p:cNvPr id="15" name="Group 15"/>
          <p:cNvGrpSpPr/>
          <p:nvPr/>
        </p:nvGrpSpPr>
        <p:grpSpPr>
          <a:xfrm rot="0">
            <a:off x="10054227" y="7607859"/>
            <a:ext cx="6830714" cy="2128485"/>
            <a:chOff x="0" y="0"/>
            <a:chExt cx="2286638" cy="712528"/>
          </a:xfrm>
        </p:grpSpPr>
        <p:sp>
          <p:nvSpPr>
            <p:cNvPr id="16" name="Freeform 16"/>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7" name="TextBox 17"/>
            <p:cNvSpPr txBox="1"/>
            <p:nvPr/>
          </p:nvSpPr>
          <p:spPr>
            <a:xfrm>
              <a:off x="0" y="85725"/>
              <a:ext cx="2286638" cy="626803"/>
            </a:xfrm>
            <a:prstGeom prst="rect">
              <a:avLst/>
            </a:prstGeom>
          </p:spPr>
          <p:txBody>
            <a:bodyPr lIns="50800" tIns="50800" rIns="50800" bIns="50800" rtlCol="0" anchor="ctr"/>
            <a:lstStyle/>
            <a:p>
              <a:pPr algn="ctr">
                <a:lnSpc>
                  <a:spcPts val="1925"/>
                </a:lnSpc>
              </a:pPr>
            </a:p>
          </p:txBody>
        </p:sp>
      </p:grpSp>
      <p:sp>
        <p:nvSpPr>
          <p:cNvPr id="18" name="Freeform 18"/>
          <p:cNvSpPr/>
          <p:nvPr/>
        </p:nvSpPr>
        <p:spPr>
          <a:xfrm>
            <a:off x="2205701" y="5709768"/>
            <a:ext cx="5201563" cy="2705100"/>
          </a:xfrm>
          <a:custGeom>
            <a:avLst/>
            <a:gdLst/>
            <a:ahLst/>
            <a:cxnLst/>
            <a:rect l="l" t="t" r="r" b="b"/>
            <a:pathLst>
              <a:path w="5201563" h="2705100">
                <a:moveTo>
                  <a:pt x="0" y="0"/>
                </a:moveTo>
                <a:lnTo>
                  <a:pt x="5201562" y="0"/>
                </a:lnTo>
                <a:lnTo>
                  <a:pt x="5201562" y="2705100"/>
                </a:lnTo>
                <a:lnTo>
                  <a:pt x="0" y="2705100"/>
                </a:lnTo>
                <a:lnTo>
                  <a:pt x="0" y="0"/>
                </a:lnTo>
                <a:close/>
              </a:path>
            </a:pathLst>
          </a:custGeom>
          <a:blipFill>
            <a:blip r:embed="rId2"/>
            <a:stretch>
              <a:fillRect/>
            </a:stretch>
          </a:blipFill>
        </p:spPr>
      </p:sp>
      <p:sp>
        <p:nvSpPr>
          <p:cNvPr id="19" name="Freeform 19"/>
          <p:cNvSpPr/>
          <p:nvPr/>
        </p:nvSpPr>
        <p:spPr>
          <a:xfrm>
            <a:off x="2499834" y="7782208"/>
            <a:ext cx="1472144" cy="467462"/>
          </a:xfrm>
          <a:custGeom>
            <a:avLst/>
            <a:gdLst/>
            <a:ahLst/>
            <a:cxnLst/>
            <a:rect l="l" t="t" r="r" b="b"/>
            <a:pathLst>
              <a:path w="1472144" h="467462">
                <a:moveTo>
                  <a:pt x="0" y="0"/>
                </a:moveTo>
                <a:lnTo>
                  <a:pt x="1472145" y="0"/>
                </a:lnTo>
                <a:lnTo>
                  <a:pt x="1472145" y="467462"/>
                </a:lnTo>
                <a:lnTo>
                  <a:pt x="0" y="467462"/>
                </a:lnTo>
                <a:lnTo>
                  <a:pt x="0" y="0"/>
                </a:lnTo>
                <a:close/>
              </a:path>
            </a:pathLst>
          </a:custGeom>
          <a:blipFill>
            <a:blip r:embed="rId3"/>
            <a:stretch>
              <a:fillRect t="-9333" b="-9333"/>
            </a:stretch>
          </a:blipFill>
        </p:spPr>
      </p:sp>
      <p:sp>
        <p:nvSpPr>
          <p:cNvPr id="20" name="Freeform 20"/>
          <p:cNvSpPr/>
          <p:nvPr/>
        </p:nvSpPr>
        <p:spPr>
          <a:xfrm>
            <a:off x="2598391" y="6770520"/>
            <a:ext cx="1373588" cy="756245"/>
          </a:xfrm>
          <a:custGeom>
            <a:avLst/>
            <a:gdLst/>
            <a:ahLst/>
            <a:cxnLst/>
            <a:rect l="l" t="t" r="r" b="b"/>
            <a:pathLst>
              <a:path w="1373588" h="756245">
                <a:moveTo>
                  <a:pt x="0" y="0"/>
                </a:moveTo>
                <a:lnTo>
                  <a:pt x="1373588" y="0"/>
                </a:lnTo>
                <a:lnTo>
                  <a:pt x="1373588" y="756246"/>
                </a:lnTo>
                <a:lnTo>
                  <a:pt x="0" y="756246"/>
                </a:lnTo>
                <a:lnTo>
                  <a:pt x="0" y="0"/>
                </a:lnTo>
                <a:close/>
              </a:path>
            </a:pathLst>
          </a:custGeom>
          <a:blipFill>
            <a:blip r:embed="rId4"/>
            <a:stretch>
              <a:fillRect/>
            </a:stretch>
          </a:blipFill>
        </p:spPr>
      </p:sp>
      <p:sp>
        <p:nvSpPr>
          <p:cNvPr id="21" name="TextBox 21"/>
          <p:cNvSpPr txBox="1"/>
          <p:nvPr/>
        </p:nvSpPr>
        <p:spPr>
          <a:xfrm>
            <a:off x="606524" y="502789"/>
            <a:ext cx="9158639" cy="1011348"/>
          </a:xfrm>
          <a:prstGeom prst="rect">
            <a:avLst/>
          </a:prstGeom>
        </p:spPr>
        <p:txBody>
          <a:bodyPr lIns="0" tIns="0" rIns="0" bIns="0" rtlCol="0" anchor="t">
            <a:spAutoFit/>
          </a:bodyPr>
          <a:lstStyle/>
          <a:p>
            <a:pPr algn="l">
              <a:lnSpc>
                <a:spcPts val="7380"/>
              </a:lnSpc>
            </a:pPr>
            <a:r>
              <a:rPr lang="en-US" sz="6470" b="1">
                <a:solidFill>
                  <a:srgbClr val="1C2120"/>
                </a:solidFill>
                <a:latin typeface="Poppins Bold" panose="00000800000000000000"/>
                <a:ea typeface="Poppins Bold" panose="00000800000000000000"/>
                <a:cs typeface="Poppins Bold" panose="00000800000000000000"/>
                <a:sym typeface="Poppins Bold" panose="00000800000000000000"/>
              </a:rPr>
              <a:t>Inbuilt Preprocessing</a:t>
            </a:r>
            <a:endParaRPr lang="en-US" sz="647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22" name="TextBox 22"/>
          <p:cNvSpPr txBox="1"/>
          <p:nvPr/>
        </p:nvSpPr>
        <p:spPr>
          <a:xfrm>
            <a:off x="10409018" y="891024"/>
            <a:ext cx="6178281" cy="1556164"/>
          </a:xfrm>
          <a:prstGeom prst="rect">
            <a:avLst/>
          </a:prstGeom>
        </p:spPr>
        <p:txBody>
          <a:bodyPr lIns="0" tIns="0" rIns="0" bIns="0" rtlCol="0" anchor="t">
            <a:spAutoFit/>
          </a:bodyPr>
          <a:lstStyle/>
          <a:p>
            <a:pPr marL="0" lvl="0" indent="0" algn="just">
              <a:lnSpc>
                <a:spcPts val="3120"/>
              </a:lnSpc>
              <a:spcBef>
                <a:spcPct val="0"/>
              </a:spcBef>
            </a:pPr>
            <a:r>
              <a:rPr lang="en-US" sz="2310" spc="36">
                <a:solidFill>
                  <a:srgbClr val="1C2120"/>
                </a:solidFill>
                <a:latin typeface="DM Sans"/>
                <a:ea typeface="DM Sans"/>
                <a:cs typeface="DM Sans"/>
                <a:sym typeface="DM Sans"/>
              </a:rPr>
              <a:t>EEG</a:t>
            </a:r>
            <a:r>
              <a:rPr lang="en-US" sz="2310" u="none" spc="36">
                <a:solidFill>
                  <a:srgbClr val="1C2120"/>
                </a:solidFill>
                <a:latin typeface="DM Sans"/>
                <a:ea typeface="DM Sans"/>
                <a:cs typeface="DM Sans"/>
                <a:sym typeface="DM Sans"/>
              </a:rPr>
              <a:t> signals naturally capture not just brain activity but unwanted noise—like blinks (eye artifacts), muscletension, and even heartbeats.</a:t>
            </a:r>
            <a:endParaRPr lang="en-US" sz="2310" u="none" spc="36">
              <a:solidFill>
                <a:srgbClr val="1C2120"/>
              </a:solidFill>
              <a:latin typeface="DM Sans"/>
              <a:ea typeface="DM Sans"/>
              <a:cs typeface="DM Sans"/>
              <a:sym typeface="DM Sans"/>
            </a:endParaRPr>
          </a:p>
        </p:txBody>
      </p:sp>
      <p:sp>
        <p:nvSpPr>
          <p:cNvPr id="23" name="TextBox 23"/>
          <p:cNvSpPr txBox="1"/>
          <p:nvPr/>
        </p:nvSpPr>
        <p:spPr>
          <a:xfrm>
            <a:off x="0" y="9394781"/>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 -14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24" name="TextBox 24"/>
          <p:cNvSpPr txBox="1"/>
          <p:nvPr/>
        </p:nvSpPr>
        <p:spPr>
          <a:xfrm>
            <a:off x="10408686" y="3350417"/>
            <a:ext cx="6178281" cy="1165639"/>
          </a:xfrm>
          <a:prstGeom prst="rect">
            <a:avLst/>
          </a:prstGeom>
        </p:spPr>
        <p:txBody>
          <a:bodyPr lIns="0" tIns="0" rIns="0" bIns="0" rtlCol="0" anchor="t">
            <a:spAutoFit/>
          </a:bodyPr>
          <a:lstStyle/>
          <a:p>
            <a:pPr marL="0" lvl="0" indent="0" algn="just">
              <a:lnSpc>
                <a:spcPts val="3120"/>
              </a:lnSpc>
              <a:spcBef>
                <a:spcPct val="0"/>
              </a:spcBef>
            </a:pPr>
            <a:r>
              <a:rPr lang="en-US" sz="2310" spc="36">
                <a:solidFill>
                  <a:srgbClr val="1C2120"/>
                </a:solidFill>
                <a:latin typeface="DM Sans"/>
                <a:ea typeface="DM Sans"/>
                <a:cs typeface="DM Sans"/>
                <a:sym typeface="DM Sans"/>
              </a:rPr>
              <a:t>ICA </a:t>
            </a:r>
            <a:r>
              <a:rPr lang="en-US" sz="2310" u="none" spc="36">
                <a:solidFill>
                  <a:srgbClr val="1C2120"/>
                </a:solidFill>
                <a:latin typeface="DM Sans"/>
                <a:ea typeface="DM Sans"/>
                <a:cs typeface="DM Sans"/>
                <a:sym typeface="DM Sans"/>
              </a:rPr>
              <a:t>is a statistical technique used to separate mixed signals into independent components.</a:t>
            </a:r>
            <a:endParaRPr lang="en-US" sz="2310" u="none" spc="36">
              <a:solidFill>
                <a:srgbClr val="1C2120"/>
              </a:solidFill>
              <a:latin typeface="DM Sans"/>
              <a:ea typeface="DM Sans"/>
              <a:cs typeface="DM Sans"/>
              <a:sym typeface="DM Sans"/>
            </a:endParaRPr>
          </a:p>
        </p:txBody>
      </p:sp>
      <p:sp>
        <p:nvSpPr>
          <p:cNvPr id="25" name="TextBox 25"/>
          <p:cNvSpPr txBox="1"/>
          <p:nvPr/>
        </p:nvSpPr>
        <p:spPr>
          <a:xfrm>
            <a:off x="10408354" y="5370246"/>
            <a:ext cx="6178281" cy="1556164"/>
          </a:xfrm>
          <a:prstGeom prst="rect">
            <a:avLst/>
          </a:prstGeom>
        </p:spPr>
        <p:txBody>
          <a:bodyPr lIns="0" tIns="0" rIns="0" bIns="0" rtlCol="0" anchor="t">
            <a:spAutoFit/>
          </a:bodyPr>
          <a:lstStyle/>
          <a:p>
            <a:pPr marL="0" lvl="0" indent="0" algn="just">
              <a:lnSpc>
                <a:spcPts val="3120"/>
              </a:lnSpc>
              <a:spcBef>
                <a:spcPct val="0"/>
              </a:spcBef>
            </a:pPr>
            <a:r>
              <a:rPr lang="en-US" sz="2310" spc="36">
                <a:solidFill>
                  <a:srgbClr val="1C2120"/>
                </a:solidFill>
                <a:latin typeface="DM Sans"/>
                <a:ea typeface="DM Sans"/>
                <a:cs typeface="DM Sans"/>
                <a:sym typeface="DM Sans"/>
              </a:rPr>
              <a:t>In</a:t>
            </a:r>
            <a:r>
              <a:rPr lang="en-US" sz="2310" u="none" spc="36">
                <a:solidFill>
                  <a:srgbClr val="1C2120"/>
                </a:solidFill>
                <a:latin typeface="DM Sans"/>
                <a:ea typeface="DM Sans"/>
                <a:cs typeface="DM Sans"/>
                <a:sym typeface="DM Sans"/>
              </a:rPr>
              <a:t> this context, ICA was applied to the raw EEG data to isolate and remove these non-brain signals—enhancing the clarity and reliability of the cognitive EEG segments.​</a:t>
            </a:r>
            <a:endParaRPr lang="en-US" sz="2310" u="none" spc="36">
              <a:solidFill>
                <a:srgbClr val="1C2120"/>
              </a:solidFill>
              <a:latin typeface="DM Sans"/>
              <a:ea typeface="DM Sans"/>
              <a:cs typeface="DM Sans"/>
              <a:sym typeface="DM Sans"/>
            </a:endParaRPr>
          </a:p>
        </p:txBody>
      </p:sp>
      <p:sp>
        <p:nvSpPr>
          <p:cNvPr id="26" name="TextBox 26"/>
          <p:cNvSpPr txBox="1"/>
          <p:nvPr/>
        </p:nvSpPr>
        <p:spPr>
          <a:xfrm>
            <a:off x="10380111" y="7715533"/>
            <a:ext cx="6178281" cy="1946689"/>
          </a:xfrm>
          <a:prstGeom prst="rect">
            <a:avLst/>
          </a:prstGeom>
        </p:spPr>
        <p:txBody>
          <a:bodyPr lIns="0" tIns="0" rIns="0" bIns="0" rtlCol="0" anchor="t">
            <a:spAutoFit/>
          </a:bodyPr>
          <a:lstStyle/>
          <a:p>
            <a:pPr marL="0" lvl="0" indent="0" algn="just">
              <a:lnSpc>
                <a:spcPts val="3120"/>
              </a:lnSpc>
              <a:spcBef>
                <a:spcPct val="0"/>
              </a:spcBef>
            </a:pPr>
            <a:r>
              <a:rPr lang="en-US" sz="2310" spc="36">
                <a:solidFill>
                  <a:srgbClr val="1C2120"/>
                </a:solidFill>
                <a:latin typeface="DM Sans"/>
                <a:ea typeface="DM Sans"/>
                <a:cs typeface="DM Sans"/>
                <a:sym typeface="DM Sans"/>
              </a:rPr>
              <a:t>Ari</a:t>
            </a:r>
            <a:r>
              <a:rPr lang="en-US" sz="2310" u="none" spc="36">
                <a:solidFill>
                  <a:srgbClr val="1C2120"/>
                </a:solidFill>
                <a:latin typeface="DM Sans"/>
                <a:ea typeface="DM Sans"/>
                <a:cs typeface="DM Sans"/>
                <a:sym typeface="DM Sans"/>
              </a:rPr>
              <a:t>thmetic task was the serial subtraction of two numbers. Each trial started with the communication orally4-digit (minuend) and 2-digit (subtrahend) numbers (e.g. 8757 and 24).</a:t>
            </a:r>
            <a:endParaRPr lang="en-US" sz="2310" u="none" spc="36">
              <a:solidFill>
                <a:srgbClr val="1C2120"/>
              </a:solidFill>
              <a:latin typeface="DM Sans"/>
              <a:ea typeface="DM Sans"/>
              <a:cs typeface="DM Sans"/>
              <a:sym typeface="DM Sans"/>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778765" y="3623408"/>
            <a:ext cx="2333479" cy="582575"/>
            <a:chOff x="0" y="0"/>
            <a:chExt cx="614579" cy="153435"/>
          </a:xfrm>
        </p:grpSpPr>
        <p:sp>
          <p:nvSpPr>
            <p:cNvPr id="3" name="Freeform 3"/>
            <p:cNvSpPr/>
            <p:nvPr/>
          </p:nvSpPr>
          <p:spPr>
            <a:xfrm>
              <a:off x="0" y="0"/>
              <a:ext cx="614579" cy="153435"/>
            </a:xfrm>
            <a:custGeom>
              <a:avLst/>
              <a:gdLst/>
              <a:ahLst/>
              <a:cxnLst/>
              <a:rect l="l" t="t" r="r" b="b"/>
              <a:pathLst>
                <a:path w="614579" h="153435">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4" name="TextBox 4"/>
            <p:cNvSpPr txBox="1"/>
            <p:nvPr/>
          </p:nvSpPr>
          <p:spPr>
            <a:xfrm>
              <a:off x="0" y="-38100"/>
              <a:ext cx="614579" cy="191535"/>
            </a:xfrm>
            <a:prstGeom prst="rect">
              <a:avLst/>
            </a:prstGeom>
          </p:spPr>
          <p:txBody>
            <a:bodyPr lIns="50800" tIns="50800" rIns="50800" bIns="50800" rtlCol="0" anchor="ctr"/>
            <a:lstStyle/>
            <a:p>
              <a:pPr algn="ctr">
                <a:lnSpc>
                  <a:spcPts val="2660"/>
                </a:lnSpc>
              </a:pPr>
            </a:p>
          </p:txBody>
        </p:sp>
      </p:grpSp>
      <p:grpSp>
        <p:nvGrpSpPr>
          <p:cNvPr id="5" name="Group 5"/>
          <p:cNvGrpSpPr/>
          <p:nvPr/>
        </p:nvGrpSpPr>
        <p:grpSpPr>
          <a:xfrm rot="0">
            <a:off x="1696760" y="5780063"/>
            <a:ext cx="2333479" cy="582575"/>
            <a:chOff x="0" y="0"/>
            <a:chExt cx="614579" cy="153435"/>
          </a:xfrm>
        </p:grpSpPr>
        <p:sp>
          <p:nvSpPr>
            <p:cNvPr id="6" name="Freeform 6"/>
            <p:cNvSpPr/>
            <p:nvPr/>
          </p:nvSpPr>
          <p:spPr>
            <a:xfrm>
              <a:off x="0" y="0"/>
              <a:ext cx="614579" cy="153435"/>
            </a:xfrm>
            <a:custGeom>
              <a:avLst/>
              <a:gdLst/>
              <a:ahLst/>
              <a:cxnLst/>
              <a:rect l="l" t="t" r="r" b="b"/>
              <a:pathLst>
                <a:path w="614579" h="153435">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7" name="TextBox 7"/>
            <p:cNvSpPr txBox="1"/>
            <p:nvPr/>
          </p:nvSpPr>
          <p:spPr>
            <a:xfrm>
              <a:off x="0" y="-38100"/>
              <a:ext cx="614579" cy="191535"/>
            </a:xfrm>
            <a:prstGeom prst="rect">
              <a:avLst/>
            </a:prstGeom>
          </p:spPr>
          <p:txBody>
            <a:bodyPr lIns="50800" tIns="50800" rIns="50800" bIns="50800" rtlCol="0" anchor="ctr"/>
            <a:lstStyle/>
            <a:p>
              <a:pPr algn="ctr">
                <a:lnSpc>
                  <a:spcPts val="2660"/>
                </a:lnSpc>
              </a:pPr>
            </a:p>
          </p:txBody>
        </p:sp>
      </p:grpSp>
      <p:sp>
        <p:nvSpPr>
          <p:cNvPr id="8" name="Freeform 8"/>
          <p:cNvSpPr/>
          <p:nvPr/>
        </p:nvSpPr>
        <p:spPr>
          <a:xfrm>
            <a:off x="6430697" y="2323135"/>
            <a:ext cx="5177524" cy="6369302"/>
          </a:xfrm>
          <a:custGeom>
            <a:avLst/>
            <a:gdLst/>
            <a:ahLst/>
            <a:cxnLst/>
            <a:rect l="l" t="t" r="r" b="b"/>
            <a:pathLst>
              <a:path w="5177524" h="6369302">
                <a:moveTo>
                  <a:pt x="0" y="0"/>
                </a:moveTo>
                <a:lnTo>
                  <a:pt x="5177524" y="0"/>
                </a:lnTo>
                <a:lnTo>
                  <a:pt x="5177524" y="6369302"/>
                </a:lnTo>
                <a:lnTo>
                  <a:pt x="0" y="6369302"/>
                </a:lnTo>
                <a:lnTo>
                  <a:pt x="0" y="0"/>
                </a:lnTo>
                <a:close/>
              </a:path>
            </a:pathLst>
          </a:custGeom>
          <a:blipFill>
            <a:blip r:embed="rId1"/>
            <a:stretch>
              <a:fillRect/>
            </a:stretch>
          </a:blipFill>
        </p:spPr>
      </p:sp>
      <p:sp>
        <p:nvSpPr>
          <p:cNvPr id="9" name="TextBox 9"/>
          <p:cNvSpPr txBox="1"/>
          <p:nvPr/>
        </p:nvSpPr>
        <p:spPr>
          <a:xfrm>
            <a:off x="388682" y="500541"/>
            <a:ext cx="16759462" cy="1778800"/>
          </a:xfrm>
          <a:prstGeom prst="rect">
            <a:avLst/>
          </a:prstGeom>
        </p:spPr>
        <p:txBody>
          <a:bodyPr lIns="0" tIns="0" rIns="0" bIns="0" rtlCol="0" anchor="t">
            <a:spAutoFit/>
          </a:bodyPr>
          <a:lstStyle/>
          <a:p>
            <a:pPr algn="ctr">
              <a:lnSpc>
                <a:spcPts val="6770"/>
              </a:lnSpc>
            </a:pPr>
            <a:r>
              <a:rPr lang="en-US" sz="5940" b="1">
                <a:solidFill>
                  <a:srgbClr val="1C2120"/>
                </a:solidFill>
                <a:latin typeface="Poppins Bold" panose="00000800000000000000"/>
                <a:ea typeface="Poppins Bold" panose="00000800000000000000"/>
                <a:cs typeface="Poppins Bold" panose="00000800000000000000"/>
                <a:sym typeface="Poppins Bold" panose="00000800000000000000"/>
              </a:rPr>
              <a:t>Neurocom monopolar EEG 23-channel system​</a:t>
            </a:r>
            <a:endParaRPr lang="en-US" sz="594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10" name="TextBox 10"/>
          <p:cNvSpPr txBox="1"/>
          <p:nvPr/>
        </p:nvSpPr>
        <p:spPr>
          <a:xfrm>
            <a:off x="1778765" y="2730607"/>
            <a:ext cx="3417560" cy="721351"/>
          </a:xfrm>
          <a:prstGeom prst="rect">
            <a:avLst/>
          </a:prstGeom>
        </p:spPr>
        <p:txBody>
          <a:bodyPr lIns="0" tIns="0" rIns="0" bIns="0" rtlCol="0" anchor="t">
            <a:spAutoFit/>
          </a:bodyPr>
          <a:lstStyle/>
          <a:p>
            <a:pPr algn="l">
              <a:lnSpc>
                <a:spcPts val="5320"/>
              </a:lnSpc>
            </a:pPr>
            <a:r>
              <a:rPr lang="en-US" sz="4665" b="1">
                <a:solidFill>
                  <a:srgbClr val="1C2120"/>
                </a:solidFill>
                <a:latin typeface="Poppins Bold" panose="00000800000000000000"/>
                <a:ea typeface="Poppins Bold" panose="00000800000000000000"/>
                <a:cs typeface="Poppins Bold" panose="00000800000000000000"/>
                <a:sym typeface="Poppins Bold" panose="00000800000000000000"/>
              </a:rPr>
              <a:t>Fp1, Fp2</a:t>
            </a:r>
            <a:endParaRPr lang="en-US" sz="466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11" name="TextBox 11"/>
          <p:cNvSpPr txBox="1"/>
          <p:nvPr/>
        </p:nvSpPr>
        <p:spPr>
          <a:xfrm>
            <a:off x="1860769" y="3773447"/>
            <a:ext cx="2169471" cy="282528"/>
          </a:xfrm>
          <a:prstGeom prst="rect">
            <a:avLst/>
          </a:prstGeom>
        </p:spPr>
        <p:txBody>
          <a:bodyPr lIns="0" tIns="0" rIns="0" bIns="0" rtlCol="0" anchor="t">
            <a:spAutoFit/>
          </a:bodyPr>
          <a:lstStyle/>
          <a:p>
            <a:pPr algn="ctr">
              <a:lnSpc>
                <a:spcPts val="2035"/>
              </a:lnSpc>
            </a:pPr>
            <a:r>
              <a:rPr lang="en-US" sz="1885">
                <a:solidFill>
                  <a:srgbClr val="1C2120"/>
                </a:solidFill>
                <a:latin typeface="Poppins" panose="00000500000000000000"/>
                <a:ea typeface="Poppins" panose="00000500000000000000"/>
                <a:cs typeface="Poppins" panose="00000500000000000000"/>
                <a:sym typeface="Poppins" panose="00000500000000000000"/>
              </a:rPr>
              <a:t>frontal</a:t>
            </a:r>
            <a:endParaRPr lang="en-US" sz="1885">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12" name="TextBox 12"/>
          <p:cNvSpPr txBox="1"/>
          <p:nvPr/>
        </p:nvSpPr>
        <p:spPr>
          <a:xfrm>
            <a:off x="12376615" y="2731369"/>
            <a:ext cx="4597937" cy="720589"/>
          </a:xfrm>
          <a:prstGeom prst="rect">
            <a:avLst/>
          </a:prstGeom>
        </p:spPr>
        <p:txBody>
          <a:bodyPr lIns="0" tIns="0" rIns="0" bIns="0" rtlCol="0" anchor="t">
            <a:spAutoFit/>
          </a:bodyPr>
          <a:lstStyle/>
          <a:p>
            <a:pPr algn="l">
              <a:lnSpc>
                <a:spcPts val="5205"/>
              </a:lnSpc>
            </a:pPr>
            <a:r>
              <a:rPr lang="en-US" sz="4565" b="1">
                <a:solidFill>
                  <a:srgbClr val="1C2120"/>
                </a:solidFill>
                <a:latin typeface="Poppins Bold" panose="00000800000000000000"/>
                <a:ea typeface="Poppins Bold" panose="00000800000000000000"/>
                <a:cs typeface="Poppins Bold" panose="00000800000000000000"/>
                <a:sym typeface="Poppins Bold" panose="00000800000000000000"/>
              </a:rPr>
              <a:t>F3, F4, Fz, F7, F8</a:t>
            </a:r>
            <a:endParaRPr lang="en-US" sz="456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grpSp>
        <p:nvGrpSpPr>
          <p:cNvPr id="13" name="Group 13"/>
          <p:cNvGrpSpPr/>
          <p:nvPr/>
        </p:nvGrpSpPr>
        <p:grpSpPr>
          <a:xfrm rot="0">
            <a:off x="13426840" y="3623408"/>
            <a:ext cx="2333479" cy="582575"/>
            <a:chOff x="0" y="0"/>
            <a:chExt cx="614579" cy="153435"/>
          </a:xfrm>
        </p:grpSpPr>
        <p:sp>
          <p:nvSpPr>
            <p:cNvPr id="14" name="Freeform 14"/>
            <p:cNvSpPr/>
            <p:nvPr/>
          </p:nvSpPr>
          <p:spPr>
            <a:xfrm>
              <a:off x="0" y="0"/>
              <a:ext cx="614579" cy="153435"/>
            </a:xfrm>
            <a:custGeom>
              <a:avLst/>
              <a:gdLst/>
              <a:ahLst/>
              <a:cxnLst/>
              <a:rect l="l" t="t" r="r" b="b"/>
              <a:pathLst>
                <a:path w="614579" h="153435">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15" name="TextBox 15"/>
            <p:cNvSpPr txBox="1"/>
            <p:nvPr/>
          </p:nvSpPr>
          <p:spPr>
            <a:xfrm>
              <a:off x="0" y="-38100"/>
              <a:ext cx="614579" cy="191535"/>
            </a:xfrm>
            <a:prstGeom prst="rect">
              <a:avLst/>
            </a:prstGeom>
          </p:spPr>
          <p:txBody>
            <a:bodyPr lIns="50800" tIns="50800" rIns="50800" bIns="50800" rtlCol="0" anchor="ctr"/>
            <a:lstStyle/>
            <a:p>
              <a:pPr algn="ctr">
                <a:lnSpc>
                  <a:spcPts val="2660"/>
                </a:lnSpc>
              </a:pPr>
            </a:p>
          </p:txBody>
        </p:sp>
      </p:grpSp>
      <p:sp>
        <p:nvSpPr>
          <p:cNvPr id="16" name="TextBox 16"/>
          <p:cNvSpPr txBox="1"/>
          <p:nvPr/>
        </p:nvSpPr>
        <p:spPr>
          <a:xfrm>
            <a:off x="13508844" y="3773447"/>
            <a:ext cx="2169471" cy="282528"/>
          </a:xfrm>
          <a:prstGeom prst="rect">
            <a:avLst/>
          </a:prstGeom>
        </p:spPr>
        <p:txBody>
          <a:bodyPr lIns="0" tIns="0" rIns="0" bIns="0" rtlCol="0" anchor="t">
            <a:spAutoFit/>
          </a:bodyPr>
          <a:lstStyle/>
          <a:p>
            <a:pPr algn="ctr">
              <a:lnSpc>
                <a:spcPts val="2035"/>
              </a:lnSpc>
            </a:pPr>
            <a:r>
              <a:rPr lang="en-US" sz="1885">
                <a:solidFill>
                  <a:srgbClr val="1C2120"/>
                </a:solidFill>
                <a:latin typeface="Poppins" panose="00000500000000000000"/>
                <a:ea typeface="Poppins" panose="00000500000000000000"/>
                <a:cs typeface="Poppins" panose="00000500000000000000"/>
                <a:sym typeface="Poppins" panose="00000500000000000000"/>
              </a:rPr>
              <a:t>frontal </a:t>
            </a:r>
            <a:endParaRPr lang="en-US" sz="1885">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432280" y="6973663"/>
            <a:ext cx="3417560" cy="721351"/>
          </a:xfrm>
          <a:prstGeom prst="rect">
            <a:avLst/>
          </a:prstGeom>
        </p:spPr>
        <p:txBody>
          <a:bodyPr lIns="0" tIns="0" rIns="0" bIns="0" rtlCol="0" anchor="t">
            <a:spAutoFit/>
          </a:bodyPr>
          <a:lstStyle/>
          <a:p>
            <a:pPr algn="l">
              <a:lnSpc>
                <a:spcPts val="5320"/>
              </a:lnSpc>
            </a:pPr>
            <a:r>
              <a:rPr lang="en-US" sz="4665" b="1">
                <a:solidFill>
                  <a:srgbClr val="1C2120"/>
                </a:solidFill>
                <a:latin typeface="Poppins Bold" panose="00000800000000000000"/>
                <a:ea typeface="Poppins Bold" panose="00000800000000000000"/>
                <a:cs typeface="Poppins Bold" panose="00000800000000000000"/>
                <a:sym typeface="Poppins Bold" panose="00000800000000000000"/>
              </a:rPr>
              <a:t>C3, C4, Cz</a:t>
            </a:r>
            <a:endParaRPr lang="en-US" sz="466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grpSp>
        <p:nvGrpSpPr>
          <p:cNvPr id="18" name="Group 18"/>
          <p:cNvGrpSpPr/>
          <p:nvPr/>
        </p:nvGrpSpPr>
        <p:grpSpPr>
          <a:xfrm rot="0">
            <a:off x="1860769" y="7799788"/>
            <a:ext cx="2333479" cy="582575"/>
            <a:chOff x="0" y="0"/>
            <a:chExt cx="614579" cy="153435"/>
          </a:xfrm>
        </p:grpSpPr>
        <p:sp>
          <p:nvSpPr>
            <p:cNvPr id="19" name="Freeform 19"/>
            <p:cNvSpPr/>
            <p:nvPr/>
          </p:nvSpPr>
          <p:spPr>
            <a:xfrm>
              <a:off x="0" y="0"/>
              <a:ext cx="614579" cy="153435"/>
            </a:xfrm>
            <a:custGeom>
              <a:avLst/>
              <a:gdLst/>
              <a:ahLst/>
              <a:cxnLst/>
              <a:rect l="l" t="t" r="r" b="b"/>
              <a:pathLst>
                <a:path w="614579" h="153435">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20" name="TextBox 20"/>
            <p:cNvSpPr txBox="1"/>
            <p:nvPr/>
          </p:nvSpPr>
          <p:spPr>
            <a:xfrm>
              <a:off x="0" y="-38100"/>
              <a:ext cx="614579" cy="191535"/>
            </a:xfrm>
            <a:prstGeom prst="rect">
              <a:avLst/>
            </a:prstGeom>
          </p:spPr>
          <p:txBody>
            <a:bodyPr lIns="50800" tIns="50800" rIns="50800" bIns="50800" rtlCol="0" anchor="ctr"/>
            <a:lstStyle/>
            <a:p>
              <a:pPr algn="ctr">
                <a:lnSpc>
                  <a:spcPts val="2660"/>
                </a:lnSpc>
              </a:pPr>
            </a:p>
          </p:txBody>
        </p:sp>
      </p:grpSp>
      <p:sp>
        <p:nvSpPr>
          <p:cNvPr id="21" name="TextBox 21"/>
          <p:cNvSpPr txBox="1"/>
          <p:nvPr/>
        </p:nvSpPr>
        <p:spPr>
          <a:xfrm>
            <a:off x="1942773" y="7949827"/>
            <a:ext cx="2169471" cy="282528"/>
          </a:xfrm>
          <a:prstGeom prst="rect">
            <a:avLst/>
          </a:prstGeom>
        </p:spPr>
        <p:txBody>
          <a:bodyPr lIns="0" tIns="0" rIns="0" bIns="0" rtlCol="0" anchor="t">
            <a:spAutoFit/>
          </a:bodyPr>
          <a:lstStyle/>
          <a:p>
            <a:pPr algn="ctr">
              <a:lnSpc>
                <a:spcPts val="2035"/>
              </a:lnSpc>
            </a:pPr>
            <a:r>
              <a:rPr lang="en-US" sz="1885">
                <a:solidFill>
                  <a:srgbClr val="1C2120"/>
                </a:solidFill>
                <a:latin typeface="Poppins" panose="00000500000000000000"/>
                <a:ea typeface="Poppins" panose="00000500000000000000"/>
                <a:cs typeface="Poppins" panose="00000500000000000000"/>
                <a:sym typeface="Poppins" panose="00000500000000000000"/>
              </a:rPr>
              <a:t>central </a:t>
            </a:r>
            <a:endParaRPr lang="en-US" sz="1885">
              <a:solidFill>
                <a:srgbClr val="1C2120"/>
              </a:solidFill>
              <a:latin typeface="Poppins" panose="00000500000000000000"/>
              <a:ea typeface="Poppins" panose="00000500000000000000"/>
              <a:cs typeface="Poppins" panose="00000500000000000000"/>
              <a:sym typeface="Poppins" panose="00000500000000000000"/>
            </a:endParaRPr>
          </a:p>
        </p:txBody>
      </p:sp>
      <p:grpSp>
        <p:nvGrpSpPr>
          <p:cNvPr id="22" name="Group 22"/>
          <p:cNvGrpSpPr/>
          <p:nvPr/>
        </p:nvGrpSpPr>
        <p:grpSpPr>
          <a:xfrm rot="0">
            <a:off x="13344836" y="5780063"/>
            <a:ext cx="2333479" cy="582575"/>
            <a:chOff x="0" y="0"/>
            <a:chExt cx="614579" cy="153435"/>
          </a:xfrm>
        </p:grpSpPr>
        <p:sp>
          <p:nvSpPr>
            <p:cNvPr id="23" name="Freeform 23"/>
            <p:cNvSpPr/>
            <p:nvPr/>
          </p:nvSpPr>
          <p:spPr>
            <a:xfrm>
              <a:off x="0" y="0"/>
              <a:ext cx="614579" cy="153435"/>
            </a:xfrm>
            <a:custGeom>
              <a:avLst/>
              <a:gdLst/>
              <a:ahLst/>
              <a:cxnLst/>
              <a:rect l="l" t="t" r="r" b="b"/>
              <a:pathLst>
                <a:path w="614579" h="153435">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24" name="TextBox 24"/>
            <p:cNvSpPr txBox="1"/>
            <p:nvPr/>
          </p:nvSpPr>
          <p:spPr>
            <a:xfrm>
              <a:off x="0" y="-38100"/>
              <a:ext cx="614579" cy="191535"/>
            </a:xfrm>
            <a:prstGeom prst="rect">
              <a:avLst/>
            </a:prstGeom>
          </p:spPr>
          <p:txBody>
            <a:bodyPr lIns="50800" tIns="50800" rIns="50800" bIns="50800" rtlCol="0" anchor="ctr"/>
            <a:lstStyle/>
            <a:p>
              <a:pPr algn="ctr">
                <a:lnSpc>
                  <a:spcPts val="2660"/>
                </a:lnSpc>
              </a:pPr>
            </a:p>
          </p:txBody>
        </p:sp>
      </p:grpSp>
      <p:sp>
        <p:nvSpPr>
          <p:cNvPr id="25" name="TextBox 25"/>
          <p:cNvSpPr txBox="1"/>
          <p:nvPr/>
        </p:nvSpPr>
        <p:spPr>
          <a:xfrm>
            <a:off x="1432280" y="5058713"/>
            <a:ext cx="3417560" cy="721351"/>
          </a:xfrm>
          <a:prstGeom prst="rect">
            <a:avLst/>
          </a:prstGeom>
        </p:spPr>
        <p:txBody>
          <a:bodyPr lIns="0" tIns="0" rIns="0" bIns="0" rtlCol="0" anchor="t">
            <a:spAutoFit/>
          </a:bodyPr>
          <a:lstStyle/>
          <a:p>
            <a:pPr algn="l">
              <a:lnSpc>
                <a:spcPts val="5320"/>
              </a:lnSpc>
            </a:pPr>
            <a:r>
              <a:rPr lang="en-US" sz="4665" b="1">
                <a:solidFill>
                  <a:srgbClr val="1C2120"/>
                </a:solidFill>
                <a:latin typeface="Poppins Bold" panose="00000800000000000000"/>
                <a:ea typeface="Poppins Bold" panose="00000800000000000000"/>
                <a:cs typeface="Poppins Bold" panose="00000800000000000000"/>
                <a:sym typeface="Poppins Bold" panose="00000800000000000000"/>
              </a:rPr>
              <a:t>P3, P4, Pz</a:t>
            </a:r>
            <a:endParaRPr lang="en-US" sz="466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26" name="TextBox 26"/>
          <p:cNvSpPr txBox="1"/>
          <p:nvPr/>
        </p:nvSpPr>
        <p:spPr>
          <a:xfrm>
            <a:off x="1778765" y="5951513"/>
            <a:ext cx="2169471" cy="282528"/>
          </a:xfrm>
          <a:prstGeom prst="rect">
            <a:avLst/>
          </a:prstGeom>
        </p:spPr>
        <p:txBody>
          <a:bodyPr lIns="0" tIns="0" rIns="0" bIns="0" rtlCol="0" anchor="t">
            <a:spAutoFit/>
          </a:bodyPr>
          <a:lstStyle/>
          <a:p>
            <a:pPr algn="ctr">
              <a:lnSpc>
                <a:spcPts val="2035"/>
              </a:lnSpc>
            </a:pPr>
            <a:r>
              <a:rPr lang="en-US" sz="1885">
                <a:solidFill>
                  <a:srgbClr val="1C2120"/>
                </a:solidFill>
                <a:latin typeface="Poppins" panose="00000500000000000000"/>
                <a:ea typeface="Poppins" panose="00000500000000000000"/>
                <a:cs typeface="Poppins" panose="00000500000000000000"/>
                <a:sym typeface="Poppins" panose="00000500000000000000"/>
              </a:rPr>
              <a:t>parietal</a:t>
            </a:r>
            <a:endParaRPr lang="en-US" sz="1885">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27" name="TextBox 27"/>
          <p:cNvSpPr txBox="1"/>
          <p:nvPr/>
        </p:nvSpPr>
        <p:spPr>
          <a:xfrm>
            <a:off x="13500872" y="4958647"/>
            <a:ext cx="2185416" cy="720589"/>
          </a:xfrm>
          <a:prstGeom prst="rect">
            <a:avLst/>
          </a:prstGeom>
        </p:spPr>
        <p:txBody>
          <a:bodyPr lIns="0" tIns="0" rIns="0" bIns="0" rtlCol="0" anchor="t">
            <a:spAutoFit/>
          </a:bodyPr>
          <a:lstStyle/>
          <a:p>
            <a:pPr algn="l">
              <a:lnSpc>
                <a:spcPts val="5205"/>
              </a:lnSpc>
            </a:pPr>
            <a:r>
              <a:rPr lang="en-US" sz="4565" b="1">
                <a:solidFill>
                  <a:srgbClr val="1C2120"/>
                </a:solidFill>
                <a:latin typeface="Poppins Bold" panose="00000800000000000000"/>
                <a:ea typeface="Poppins Bold" panose="00000800000000000000"/>
                <a:cs typeface="Poppins Bold" panose="00000800000000000000"/>
                <a:sym typeface="Poppins Bold" panose="00000800000000000000"/>
              </a:rPr>
              <a:t>O1, O2</a:t>
            </a:r>
            <a:endParaRPr lang="en-US" sz="456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28" name="TextBox 28"/>
          <p:cNvSpPr txBox="1"/>
          <p:nvPr/>
        </p:nvSpPr>
        <p:spPr>
          <a:xfrm>
            <a:off x="13426840" y="5930102"/>
            <a:ext cx="2169471" cy="282528"/>
          </a:xfrm>
          <a:prstGeom prst="rect">
            <a:avLst/>
          </a:prstGeom>
        </p:spPr>
        <p:txBody>
          <a:bodyPr lIns="0" tIns="0" rIns="0" bIns="0" rtlCol="0" anchor="t">
            <a:spAutoFit/>
          </a:bodyPr>
          <a:lstStyle/>
          <a:p>
            <a:pPr algn="ctr">
              <a:lnSpc>
                <a:spcPts val="2035"/>
              </a:lnSpc>
            </a:pPr>
            <a:r>
              <a:rPr lang="en-US" sz="1885">
                <a:solidFill>
                  <a:srgbClr val="1C2120"/>
                </a:solidFill>
                <a:latin typeface="Poppins" panose="00000500000000000000"/>
                <a:ea typeface="Poppins" panose="00000500000000000000"/>
                <a:cs typeface="Poppins" panose="00000500000000000000"/>
                <a:sym typeface="Poppins" panose="00000500000000000000"/>
              </a:rPr>
              <a:t>occipital</a:t>
            </a:r>
            <a:endParaRPr lang="en-US" sz="1885">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29" name="TextBox 29"/>
          <p:cNvSpPr txBox="1"/>
          <p:nvPr/>
        </p:nvSpPr>
        <p:spPr>
          <a:xfrm>
            <a:off x="12842593" y="6973663"/>
            <a:ext cx="4067788" cy="721351"/>
          </a:xfrm>
          <a:prstGeom prst="rect">
            <a:avLst/>
          </a:prstGeom>
        </p:spPr>
        <p:txBody>
          <a:bodyPr lIns="0" tIns="0" rIns="0" bIns="0" rtlCol="0" anchor="t">
            <a:spAutoFit/>
          </a:bodyPr>
          <a:lstStyle/>
          <a:p>
            <a:pPr algn="l">
              <a:lnSpc>
                <a:spcPts val="5320"/>
              </a:lnSpc>
            </a:pPr>
            <a:r>
              <a:rPr lang="en-US" sz="4665" b="1">
                <a:solidFill>
                  <a:srgbClr val="1C2120"/>
                </a:solidFill>
                <a:latin typeface="Poppins Bold" panose="00000800000000000000"/>
                <a:ea typeface="Poppins Bold" panose="00000800000000000000"/>
                <a:cs typeface="Poppins Bold" panose="00000800000000000000"/>
                <a:sym typeface="Poppins Bold" panose="00000800000000000000"/>
              </a:rPr>
              <a:t>T3, T4, T5, T6</a:t>
            </a:r>
            <a:endParaRPr lang="en-US" sz="466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grpSp>
        <p:nvGrpSpPr>
          <p:cNvPr id="30" name="Group 30"/>
          <p:cNvGrpSpPr/>
          <p:nvPr/>
        </p:nvGrpSpPr>
        <p:grpSpPr>
          <a:xfrm rot="0">
            <a:off x="13508844" y="7799788"/>
            <a:ext cx="2333479" cy="582575"/>
            <a:chOff x="0" y="0"/>
            <a:chExt cx="614579" cy="153435"/>
          </a:xfrm>
        </p:grpSpPr>
        <p:sp>
          <p:nvSpPr>
            <p:cNvPr id="31" name="Freeform 31"/>
            <p:cNvSpPr/>
            <p:nvPr/>
          </p:nvSpPr>
          <p:spPr>
            <a:xfrm>
              <a:off x="0" y="0"/>
              <a:ext cx="614579" cy="153435"/>
            </a:xfrm>
            <a:custGeom>
              <a:avLst/>
              <a:gdLst/>
              <a:ahLst/>
              <a:cxnLst/>
              <a:rect l="l" t="t" r="r" b="b"/>
              <a:pathLst>
                <a:path w="614579" h="153435">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32" name="TextBox 32"/>
            <p:cNvSpPr txBox="1"/>
            <p:nvPr/>
          </p:nvSpPr>
          <p:spPr>
            <a:xfrm>
              <a:off x="0" y="-38100"/>
              <a:ext cx="614579" cy="191535"/>
            </a:xfrm>
            <a:prstGeom prst="rect">
              <a:avLst/>
            </a:prstGeom>
          </p:spPr>
          <p:txBody>
            <a:bodyPr lIns="50800" tIns="50800" rIns="50800" bIns="50800" rtlCol="0" anchor="ctr"/>
            <a:lstStyle/>
            <a:p>
              <a:pPr algn="ctr">
                <a:lnSpc>
                  <a:spcPts val="2660"/>
                </a:lnSpc>
              </a:pPr>
            </a:p>
          </p:txBody>
        </p:sp>
      </p:grpSp>
      <p:sp>
        <p:nvSpPr>
          <p:cNvPr id="33" name="TextBox 33"/>
          <p:cNvSpPr txBox="1"/>
          <p:nvPr/>
        </p:nvSpPr>
        <p:spPr>
          <a:xfrm>
            <a:off x="13590849" y="7949827"/>
            <a:ext cx="2169471" cy="282528"/>
          </a:xfrm>
          <a:prstGeom prst="rect">
            <a:avLst/>
          </a:prstGeom>
        </p:spPr>
        <p:txBody>
          <a:bodyPr lIns="0" tIns="0" rIns="0" bIns="0" rtlCol="0" anchor="t">
            <a:spAutoFit/>
          </a:bodyPr>
          <a:lstStyle/>
          <a:p>
            <a:pPr algn="ctr">
              <a:lnSpc>
                <a:spcPts val="2035"/>
              </a:lnSpc>
            </a:pPr>
            <a:r>
              <a:rPr lang="en-US" sz="1885">
                <a:solidFill>
                  <a:srgbClr val="1C2120"/>
                </a:solidFill>
                <a:latin typeface="Poppins" panose="00000500000000000000"/>
                <a:ea typeface="Poppins" panose="00000500000000000000"/>
                <a:cs typeface="Poppins" panose="00000500000000000000"/>
                <a:sym typeface="Poppins" panose="00000500000000000000"/>
              </a:rPr>
              <a:t>temporal</a:t>
            </a:r>
            <a:endParaRPr lang="en-US" sz="1885">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34" name="TextBox 34"/>
          <p:cNvSpPr txBox="1"/>
          <p:nvPr/>
        </p:nvSpPr>
        <p:spPr>
          <a:xfrm>
            <a:off x="4194248" y="8810821"/>
            <a:ext cx="9761442" cy="1156663"/>
          </a:xfrm>
          <a:prstGeom prst="rect">
            <a:avLst/>
          </a:prstGeom>
        </p:spPr>
        <p:txBody>
          <a:bodyPr lIns="0" tIns="0" rIns="0" bIns="0" rtlCol="0" anchor="t">
            <a:spAutoFit/>
          </a:bodyPr>
          <a:lstStyle/>
          <a:p>
            <a:pPr marL="492760" lvl="1" indent="-246380" algn="l">
              <a:lnSpc>
                <a:spcPts val="3080"/>
              </a:lnSpc>
              <a:buFont typeface="Arial" panose="020B0604020202020204"/>
              <a:buChar char="•"/>
            </a:pPr>
            <a:r>
              <a:rPr lang="en-US" sz="2280" spc="136">
                <a:solidFill>
                  <a:srgbClr val="000000"/>
                </a:solidFill>
                <a:latin typeface="DM Sans"/>
                <a:ea typeface="DM Sans"/>
                <a:cs typeface="DM Sans"/>
                <a:sym typeface="DM Sans"/>
              </a:rPr>
              <a:t>S</a:t>
            </a:r>
            <a:r>
              <a:rPr lang="en-US" sz="2280" u="none" spc="136">
                <a:solidFill>
                  <a:srgbClr val="000000"/>
                </a:solidFill>
                <a:latin typeface="DM Sans"/>
                <a:ea typeface="DM Sans"/>
                <a:cs typeface="DM Sans"/>
                <a:sym typeface="DM Sans"/>
              </a:rPr>
              <a:t>ilver/silver chloride electrodes were placed on the scalp at symmetrical anterior.</a:t>
            </a:r>
            <a:endParaRPr lang="en-US" sz="2280" u="none" spc="136">
              <a:solidFill>
                <a:srgbClr val="000000"/>
              </a:solidFill>
              <a:latin typeface="DM Sans"/>
              <a:ea typeface="DM Sans"/>
              <a:cs typeface="DM Sans"/>
              <a:sym typeface="DM Sans"/>
            </a:endParaRPr>
          </a:p>
          <a:p>
            <a:pPr marL="492760" lvl="1" indent="-246380" algn="l">
              <a:lnSpc>
                <a:spcPts val="3080"/>
              </a:lnSpc>
              <a:buFont typeface="Arial" panose="020B0604020202020204"/>
              <a:buChar char="•"/>
            </a:pPr>
            <a:r>
              <a:rPr lang="en-US" sz="2280" u="none" spc="136">
                <a:solidFill>
                  <a:srgbClr val="000000"/>
                </a:solidFill>
                <a:latin typeface="DM Sans"/>
                <a:ea typeface="DM Sans"/>
                <a:cs typeface="DM Sans"/>
                <a:sym typeface="DM Sans"/>
              </a:rPr>
              <a:t>R</a:t>
            </a:r>
            <a:r>
              <a:rPr lang="en-US" sz="2280" u="none" spc="136">
                <a:solidFill>
                  <a:srgbClr val="000000"/>
                </a:solidFill>
                <a:latin typeface="DM Sans"/>
                <a:ea typeface="DM Sans"/>
                <a:cs typeface="DM Sans"/>
                <a:sym typeface="DM Sans"/>
              </a:rPr>
              <a:t>ecording sites according to the International 10/20 scheme.</a:t>
            </a:r>
            <a:r>
              <a:rPr lang="en-US" sz="2280" u="none" spc="136">
                <a:solidFill>
                  <a:srgbClr val="000000"/>
                </a:solidFill>
                <a:latin typeface="DM Sans"/>
                <a:ea typeface="DM Sans"/>
                <a:cs typeface="DM Sans"/>
                <a:sym typeface="DM Sans"/>
              </a:rPr>
              <a:t>​</a:t>
            </a:r>
            <a:endParaRPr lang="en-US" sz="2280" u="none" spc="136">
              <a:solidFill>
                <a:srgbClr val="000000"/>
              </a:solidFill>
              <a:latin typeface="DM Sans"/>
              <a:ea typeface="DM Sans"/>
              <a:cs typeface="DM Sans"/>
              <a:sym typeface="DM Sans"/>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Freeform 2"/>
          <p:cNvSpPr/>
          <p:nvPr/>
        </p:nvSpPr>
        <p:spPr>
          <a:xfrm>
            <a:off x="6557366" y="4089341"/>
            <a:ext cx="6822075" cy="1022430"/>
          </a:xfrm>
          <a:custGeom>
            <a:avLst/>
            <a:gdLst/>
            <a:ahLst/>
            <a:cxnLst/>
            <a:rect l="l" t="t" r="r" b="b"/>
            <a:pathLst>
              <a:path w="6822075" h="1022430">
                <a:moveTo>
                  <a:pt x="0" y="0"/>
                </a:moveTo>
                <a:lnTo>
                  <a:pt x="6822074" y="0"/>
                </a:lnTo>
                <a:lnTo>
                  <a:pt x="6822074" y="1022429"/>
                </a:lnTo>
                <a:lnTo>
                  <a:pt x="0" y="1022429"/>
                </a:lnTo>
                <a:lnTo>
                  <a:pt x="0" y="0"/>
                </a:lnTo>
                <a:close/>
              </a:path>
            </a:pathLst>
          </a:custGeom>
          <a:blipFill>
            <a:blip r:embed="rId1"/>
            <a:stretch>
              <a:fillRect/>
            </a:stretch>
          </a:blipFill>
        </p:spPr>
      </p:sp>
      <p:sp>
        <p:nvSpPr>
          <p:cNvPr id="3" name="Freeform 3"/>
          <p:cNvSpPr/>
          <p:nvPr/>
        </p:nvSpPr>
        <p:spPr>
          <a:xfrm>
            <a:off x="6557366" y="5111770"/>
            <a:ext cx="7055966" cy="845993"/>
          </a:xfrm>
          <a:custGeom>
            <a:avLst/>
            <a:gdLst/>
            <a:ahLst/>
            <a:cxnLst/>
            <a:rect l="l" t="t" r="r" b="b"/>
            <a:pathLst>
              <a:path w="7055966" h="845993">
                <a:moveTo>
                  <a:pt x="0" y="0"/>
                </a:moveTo>
                <a:lnTo>
                  <a:pt x="7055966" y="0"/>
                </a:lnTo>
                <a:lnTo>
                  <a:pt x="7055966" y="845994"/>
                </a:lnTo>
                <a:lnTo>
                  <a:pt x="0" y="845994"/>
                </a:lnTo>
                <a:lnTo>
                  <a:pt x="0" y="0"/>
                </a:lnTo>
                <a:close/>
              </a:path>
            </a:pathLst>
          </a:custGeom>
          <a:blipFill>
            <a:blip r:embed="rId2"/>
            <a:stretch>
              <a:fillRect l="-5739" r="-7105"/>
            </a:stretch>
          </a:blipFill>
        </p:spPr>
      </p:sp>
      <p:sp>
        <p:nvSpPr>
          <p:cNvPr id="4" name="Freeform 4"/>
          <p:cNvSpPr/>
          <p:nvPr/>
        </p:nvSpPr>
        <p:spPr>
          <a:xfrm>
            <a:off x="6369302" y="7372116"/>
            <a:ext cx="7198201" cy="674831"/>
          </a:xfrm>
          <a:custGeom>
            <a:avLst/>
            <a:gdLst/>
            <a:ahLst/>
            <a:cxnLst/>
            <a:rect l="l" t="t" r="r" b="b"/>
            <a:pathLst>
              <a:path w="7198201" h="674831">
                <a:moveTo>
                  <a:pt x="0" y="0"/>
                </a:moveTo>
                <a:lnTo>
                  <a:pt x="7198202" y="0"/>
                </a:lnTo>
                <a:lnTo>
                  <a:pt x="7198202" y="674831"/>
                </a:lnTo>
                <a:lnTo>
                  <a:pt x="0" y="674831"/>
                </a:lnTo>
                <a:lnTo>
                  <a:pt x="0" y="0"/>
                </a:lnTo>
                <a:close/>
              </a:path>
            </a:pathLst>
          </a:custGeom>
          <a:blipFill>
            <a:blip r:embed="rId3"/>
            <a:stretch>
              <a:fillRect/>
            </a:stretch>
          </a:blipFill>
        </p:spPr>
      </p:sp>
      <p:sp>
        <p:nvSpPr>
          <p:cNvPr id="5" name="Freeform 5"/>
          <p:cNvSpPr/>
          <p:nvPr/>
        </p:nvSpPr>
        <p:spPr>
          <a:xfrm>
            <a:off x="5847205" y="6263123"/>
            <a:ext cx="8242396" cy="803634"/>
          </a:xfrm>
          <a:custGeom>
            <a:avLst/>
            <a:gdLst/>
            <a:ahLst/>
            <a:cxnLst/>
            <a:rect l="l" t="t" r="r" b="b"/>
            <a:pathLst>
              <a:path w="8242396" h="803634">
                <a:moveTo>
                  <a:pt x="0" y="0"/>
                </a:moveTo>
                <a:lnTo>
                  <a:pt x="8242396" y="0"/>
                </a:lnTo>
                <a:lnTo>
                  <a:pt x="8242396" y="803633"/>
                </a:lnTo>
                <a:lnTo>
                  <a:pt x="0" y="803633"/>
                </a:lnTo>
                <a:lnTo>
                  <a:pt x="0" y="0"/>
                </a:lnTo>
                <a:close/>
              </a:path>
            </a:pathLst>
          </a:custGeom>
          <a:blipFill>
            <a:blip r:embed="rId4"/>
            <a:stretch>
              <a:fillRect/>
            </a:stretch>
          </a:blipFill>
        </p:spPr>
      </p:sp>
      <p:sp>
        <p:nvSpPr>
          <p:cNvPr id="6" name="Freeform 6"/>
          <p:cNvSpPr/>
          <p:nvPr/>
        </p:nvSpPr>
        <p:spPr>
          <a:xfrm>
            <a:off x="5869066" y="8352306"/>
            <a:ext cx="7744266" cy="1972794"/>
          </a:xfrm>
          <a:custGeom>
            <a:avLst/>
            <a:gdLst/>
            <a:ahLst/>
            <a:cxnLst/>
            <a:rect l="l" t="t" r="r" b="b"/>
            <a:pathLst>
              <a:path w="7744266" h="1972794">
                <a:moveTo>
                  <a:pt x="0" y="0"/>
                </a:moveTo>
                <a:lnTo>
                  <a:pt x="7744266" y="0"/>
                </a:lnTo>
                <a:lnTo>
                  <a:pt x="7744266" y="1972794"/>
                </a:lnTo>
                <a:lnTo>
                  <a:pt x="0" y="1972794"/>
                </a:lnTo>
                <a:lnTo>
                  <a:pt x="0" y="0"/>
                </a:lnTo>
                <a:close/>
              </a:path>
            </a:pathLst>
          </a:custGeom>
          <a:blipFill>
            <a:blip r:embed="rId5"/>
            <a:stretch>
              <a:fillRect/>
            </a:stretch>
          </a:blipFill>
        </p:spPr>
      </p:sp>
      <p:sp>
        <p:nvSpPr>
          <p:cNvPr id="7" name="Freeform 7"/>
          <p:cNvSpPr/>
          <p:nvPr/>
        </p:nvSpPr>
        <p:spPr>
          <a:xfrm>
            <a:off x="7998036" y="2029523"/>
            <a:ext cx="2291929" cy="1468267"/>
          </a:xfrm>
          <a:custGeom>
            <a:avLst/>
            <a:gdLst/>
            <a:ahLst/>
            <a:cxnLst/>
            <a:rect l="l" t="t" r="r" b="b"/>
            <a:pathLst>
              <a:path w="2291929" h="1468267">
                <a:moveTo>
                  <a:pt x="0" y="0"/>
                </a:moveTo>
                <a:lnTo>
                  <a:pt x="2291928" y="0"/>
                </a:lnTo>
                <a:lnTo>
                  <a:pt x="2291928" y="1468266"/>
                </a:lnTo>
                <a:lnTo>
                  <a:pt x="0" y="1468266"/>
                </a:lnTo>
                <a:lnTo>
                  <a:pt x="0" y="0"/>
                </a:lnTo>
                <a:close/>
              </a:path>
            </a:pathLst>
          </a:custGeom>
          <a:blipFill>
            <a:blip r:embed="rId6"/>
            <a:stretch>
              <a:fillRect/>
            </a:stretch>
          </a:blipFill>
        </p:spPr>
      </p:sp>
      <p:sp>
        <p:nvSpPr>
          <p:cNvPr id="8" name="Freeform 8"/>
          <p:cNvSpPr/>
          <p:nvPr/>
        </p:nvSpPr>
        <p:spPr>
          <a:xfrm>
            <a:off x="7392508" y="3328591"/>
            <a:ext cx="3502985" cy="760749"/>
          </a:xfrm>
          <a:custGeom>
            <a:avLst/>
            <a:gdLst/>
            <a:ahLst/>
            <a:cxnLst/>
            <a:rect l="l" t="t" r="r" b="b"/>
            <a:pathLst>
              <a:path w="3502985" h="760749">
                <a:moveTo>
                  <a:pt x="0" y="0"/>
                </a:moveTo>
                <a:lnTo>
                  <a:pt x="3502984" y="0"/>
                </a:lnTo>
                <a:lnTo>
                  <a:pt x="3502984" y="760750"/>
                </a:lnTo>
                <a:lnTo>
                  <a:pt x="0" y="760750"/>
                </a:lnTo>
                <a:lnTo>
                  <a:pt x="0" y="0"/>
                </a:lnTo>
                <a:close/>
              </a:path>
            </a:pathLst>
          </a:custGeom>
          <a:blipFill>
            <a:blip r:embed="rId7"/>
            <a:stretch>
              <a:fillRect/>
            </a:stretch>
          </a:blipFill>
        </p:spPr>
      </p:sp>
      <p:sp>
        <p:nvSpPr>
          <p:cNvPr id="9" name="TextBox 9"/>
          <p:cNvSpPr txBox="1"/>
          <p:nvPr/>
        </p:nvSpPr>
        <p:spPr>
          <a:xfrm>
            <a:off x="2206531" y="907304"/>
            <a:ext cx="13874938" cy="1122219"/>
          </a:xfrm>
          <a:prstGeom prst="rect">
            <a:avLst/>
          </a:prstGeom>
        </p:spPr>
        <p:txBody>
          <a:bodyPr lIns="0" tIns="0" rIns="0" bIns="0" rtlCol="0" anchor="t">
            <a:spAutoFit/>
          </a:bodyPr>
          <a:lstStyle/>
          <a:p>
            <a:pPr algn="l">
              <a:lnSpc>
                <a:spcPts val="8290"/>
              </a:lnSpc>
            </a:pPr>
            <a:r>
              <a:rPr lang="en-US" sz="7270" b="1">
                <a:solidFill>
                  <a:srgbClr val="1C2120"/>
                </a:solidFill>
                <a:latin typeface="Poppins Bold" panose="00000800000000000000"/>
                <a:ea typeface="Poppins Bold" panose="00000800000000000000"/>
                <a:cs typeface="Poppins Bold" panose="00000800000000000000"/>
                <a:sym typeface="Poppins Bold" panose="00000800000000000000"/>
              </a:rPr>
              <a:t>Reconstruction using ADMM</a:t>
            </a:r>
            <a:endParaRPr lang="en-US" sz="727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6726" y="2604474"/>
            <a:ext cx="8395239" cy="5887162"/>
          </a:xfrm>
          <a:custGeom>
            <a:avLst/>
            <a:gdLst/>
            <a:ahLst/>
            <a:cxnLst/>
            <a:rect l="l" t="t" r="r" b="b"/>
            <a:pathLst>
              <a:path w="8395239" h="5887162">
                <a:moveTo>
                  <a:pt x="0" y="0"/>
                </a:moveTo>
                <a:lnTo>
                  <a:pt x="8395239" y="0"/>
                </a:lnTo>
                <a:lnTo>
                  <a:pt x="8395239" y="5887161"/>
                </a:lnTo>
                <a:lnTo>
                  <a:pt x="0" y="5887161"/>
                </a:lnTo>
                <a:lnTo>
                  <a:pt x="0" y="0"/>
                </a:lnTo>
                <a:close/>
              </a:path>
            </a:pathLst>
          </a:custGeom>
          <a:blipFill>
            <a:blip r:embed="rId1"/>
            <a:stretch>
              <a:fillRect/>
            </a:stretch>
          </a:blipFill>
        </p:spPr>
      </p:sp>
      <p:sp>
        <p:nvSpPr>
          <p:cNvPr id="3" name="TextBox 3"/>
          <p:cNvSpPr txBox="1"/>
          <p:nvPr/>
        </p:nvSpPr>
        <p:spPr>
          <a:xfrm>
            <a:off x="925206" y="990582"/>
            <a:ext cx="7082297" cy="1103290"/>
          </a:xfrm>
          <a:prstGeom prst="rect">
            <a:avLst/>
          </a:prstGeom>
        </p:spPr>
        <p:txBody>
          <a:bodyPr lIns="0" tIns="0" rIns="0" bIns="0" rtlCol="0" anchor="t">
            <a:spAutoFit/>
          </a:bodyPr>
          <a:lstStyle/>
          <a:p>
            <a:pPr algn="l">
              <a:lnSpc>
                <a:spcPts val="8010"/>
              </a:lnSpc>
            </a:pPr>
            <a:r>
              <a:rPr lang="en-US" sz="7030" b="1">
                <a:solidFill>
                  <a:srgbClr val="1C2120"/>
                </a:solidFill>
                <a:latin typeface="Poppins Bold" panose="00000800000000000000"/>
                <a:ea typeface="Poppins Bold" panose="00000800000000000000"/>
                <a:cs typeface="Poppins Bold" panose="00000800000000000000"/>
                <a:sym typeface="Poppins Bold" panose="00000800000000000000"/>
              </a:rPr>
              <a:t>Original signal</a:t>
            </a:r>
            <a:endParaRPr lang="en-US" sz="703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grpSp>
        <p:nvGrpSpPr>
          <p:cNvPr id="4" name="Group 4"/>
          <p:cNvGrpSpPr/>
          <p:nvPr/>
        </p:nvGrpSpPr>
        <p:grpSpPr>
          <a:xfrm rot="0">
            <a:off x="15136193" y="9258300"/>
            <a:ext cx="2174989" cy="582575"/>
            <a:chOff x="0" y="0"/>
            <a:chExt cx="572837" cy="153435"/>
          </a:xfrm>
        </p:grpSpPr>
        <p:sp>
          <p:nvSpPr>
            <p:cNvPr id="5" name="Freeform 5"/>
            <p:cNvSpPr/>
            <p:nvPr/>
          </p:nvSpPr>
          <p:spPr>
            <a:xfrm>
              <a:off x="0" y="0"/>
              <a:ext cx="572837" cy="153435"/>
            </a:xfrm>
            <a:custGeom>
              <a:avLst/>
              <a:gdLst/>
              <a:ahLst/>
              <a:cxnLst/>
              <a:rect l="l" t="t" r="r" b="b"/>
              <a:pathLst>
                <a:path w="572837" h="153435">
                  <a:moveTo>
                    <a:pt x="76718" y="0"/>
                  </a:moveTo>
                  <a:lnTo>
                    <a:pt x="496119" y="0"/>
                  </a:lnTo>
                  <a:cubicBezTo>
                    <a:pt x="516466" y="0"/>
                    <a:pt x="535979" y="8083"/>
                    <a:pt x="550366" y="22470"/>
                  </a:cubicBezTo>
                  <a:cubicBezTo>
                    <a:pt x="564754" y="36857"/>
                    <a:pt x="572837" y="56371"/>
                    <a:pt x="572837" y="76718"/>
                  </a:cubicBezTo>
                  <a:lnTo>
                    <a:pt x="572837" y="76718"/>
                  </a:lnTo>
                  <a:cubicBezTo>
                    <a:pt x="572837" y="97064"/>
                    <a:pt x="564754" y="116578"/>
                    <a:pt x="550366" y="130965"/>
                  </a:cubicBezTo>
                  <a:cubicBezTo>
                    <a:pt x="535979" y="145353"/>
                    <a:pt x="516466" y="153435"/>
                    <a:pt x="496119"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6" name="TextBox 6"/>
            <p:cNvSpPr txBox="1"/>
            <p:nvPr/>
          </p:nvSpPr>
          <p:spPr>
            <a:xfrm>
              <a:off x="0" y="-38100"/>
              <a:ext cx="572837" cy="191535"/>
            </a:xfrm>
            <a:prstGeom prst="rect">
              <a:avLst/>
            </a:prstGeom>
          </p:spPr>
          <p:txBody>
            <a:bodyPr lIns="50800" tIns="50800" rIns="50800" bIns="50800" rtlCol="0" anchor="ctr"/>
            <a:lstStyle/>
            <a:p>
              <a:pPr algn="ctr">
                <a:lnSpc>
                  <a:spcPts val="2660"/>
                </a:lnSpc>
              </a:pPr>
            </a:p>
          </p:txBody>
        </p:sp>
      </p:grpSp>
      <p:sp>
        <p:nvSpPr>
          <p:cNvPr id="7" name="TextBox 7"/>
          <p:cNvSpPr txBox="1"/>
          <p:nvPr/>
        </p:nvSpPr>
        <p:spPr>
          <a:xfrm>
            <a:off x="14754708" y="9394781"/>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 -14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8" name="Freeform 8"/>
          <p:cNvSpPr/>
          <p:nvPr/>
        </p:nvSpPr>
        <p:spPr>
          <a:xfrm>
            <a:off x="9541855" y="2864392"/>
            <a:ext cx="7512709" cy="5268287"/>
          </a:xfrm>
          <a:custGeom>
            <a:avLst/>
            <a:gdLst/>
            <a:ahLst/>
            <a:cxnLst/>
            <a:rect l="l" t="t" r="r" b="b"/>
            <a:pathLst>
              <a:path w="7512709" h="5268287">
                <a:moveTo>
                  <a:pt x="0" y="0"/>
                </a:moveTo>
                <a:lnTo>
                  <a:pt x="7512709" y="0"/>
                </a:lnTo>
                <a:lnTo>
                  <a:pt x="7512709" y="5268287"/>
                </a:lnTo>
                <a:lnTo>
                  <a:pt x="0" y="5268287"/>
                </a:lnTo>
                <a:lnTo>
                  <a:pt x="0" y="0"/>
                </a:lnTo>
                <a:close/>
              </a:path>
            </a:pathLst>
          </a:custGeom>
          <a:blipFill>
            <a:blip r:embed="rId2"/>
            <a:stretch>
              <a:fillRect/>
            </a:stretch>
          </a:blipFill>
        </p:spPr>
      </p:sp>
      <p:sp>
        <p:nvSpPr>
          <p:cNvPr id="9" name="TextBox 9"/>
          <p:cNvSpPr txBox="1"/>
          <p:nvPr/>
        </p:nvSpPr>
        <p:spPr>
          <a:xfrm>
            <a:off x="9750524" y="971653"/>
            <a:ext cx="8537476" cy="1122219"/>
          </a:xfrm>
          <a:prstGeom prst="rect">
            <a:avLst/>
          </a:prstGeom>
        </p:spPr>
        <p:txBody>
          <a:bodyPr lIns="0" tIns="0" rIns="0" bIns="0" rtlCol="0" anchor="t">
            <a:spAutoFit/>
          </a:bodyPr>
          <a:lstStyle/>
          <a:p>
            <a:pPr algn="l">
              <a:lnSpc>
                <a:spcPts val="8290"/>
              </a:lnSpc>
            </a:pPr>
            <a:r>
              <a:rPr lang="en-US" sz="7270" b="1">
                <a:solidFill>
                  <a:srgbClr val="1C2120"/>
                </a:solidFill>
                <a:latin typeface="Poppins Bold" panose="00000800000000000000"/>
                <a:ea typeface="Poppins Bold" panose="00000800000000000000"/>
                <a:cs typeface="Poppins Bold" panose="00000800000000000000"/>
                <a:sym typeface="Poppins Bold" panose="00000800000000000000"/>
              </a:rPr>
              <a:t>Reconstructed</a:t>
            </a:r>
            <a:endParaRPr lang="en-US" sz="727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rot="0">
            <a:off x="15661780" y="9258300"/>
            <a:ext cx="2174989" cy="582575"/>
            <a:chOff x="0" y="0"/>
            <a:chExt cx="572837" cy="153435"/>
          </a:xfrm>
        </p:grpSpPr>
        <p:sp>
          <p:nvSpPr>
            <p:cNvPr id="3" name="Freeform 3"/>
            <p:cNvSpPr/>
            <p:nvPr/>
          </p:nvSpPr>
          <p:spPr>
            <a:xfrm>
              <a:off x="0" y="0"/>
              <a:ext cx="572837" cy="153435"/>
            </a:xfrm>
            <a:custGeom>
              <a:avLst/>
              <a:gdLst/>
              <a:ahLst/>
              <a:cxnLst/>
              <a:rect l="l" t="t" r="r" b="b"/>
              <a:pathLst>
                <a:path w="572837" h="153435">
                  <a:moveTo>
                    <a:pt x="76718" y="0"/>
                  </a:moveTo>
                  <a:lnTo>
                    <a:pt x="496119" y="0"/>
                  </a:lnTo>
                  <a:cubicBezTo>
                    <a:pt x="516466" y="0"/>
                    <a:pt x="535979" y="8083"/>
                    <a:pt x="550366" y="22470"/>
                  </a:cubicBezTo>
                  <a:cubicBezTo>
                    <a:pt x="564754" y="36857"/>
                    <a:pt x="572837" y="56371"/>
                    <a:pt x="572837" y="76718"/>
                  </a:cubicBezTo>
                  <a:lnTo>
                    <a:pt x="572837" y="76718"/>
                  </a:lnTo>
                  <a:cubicBezTo>
                    <a:pt x="572837" y="97064"/>
                    <a:pt x="564754" y="116578"/>
                    <a:pt x="550366" y="130965"/>
                  </a:cubicBezTo>
                  <a:cubicBezTo>
                    <a:pt x="535979" y="145353"/>
                    <a:pt x="516466" y="153435"/>
                    <a:pt x="496119"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4" name="TextBox 4"/>
            <p:cNvSpPr txBox="1"/>
            <p:nvPr/>
          </p:nvSpPr>
          <p:spPr>
            <a:xfrm>
              <a:off x="0" y="-38100"/>
              <a:ext cx="572837" cy="191535"/>
            </a:xfrm>
            <a:prstGeom prst="rect">
              <a:avLst/>
            </a:prstGeom>
          </p:spPr>
          <p:txBody>
            <a:bodyPr lIns="50800" tIns="50800" rIns="50800" bIns="50800" rtlCol="0" anchor="ctr"/>
            <a:lstStyle/>
            <a:p>
              <a:pPr algn="ctr">
                <a:lnSpc>
                  <a:spcPts val="2660"/>
                </a:lnSpc>
              </a:pPr>
            </a:p>
          </p:txBody>
        </p:sp>
      </p:grpSp>
      <p:sp>
        <p:nvSpPr>
          <p:cNvPr id="5" name="Freeform 5"/>
          <p:cNvSpPr/>
          <p:nvPr/>
        </p:nvSpPr>
        <p:spPr>
          <a:xfrm>
            <a:off x="1028700" y="2477064"/>
            <a:ext cx="10545506" cy="7236854"/>
          </a:xfrm>
          <a:custGeom>
            <a:avLst/>
            <a:gdLst/>
            <a:ahLst/>
            <a:cxnLst/>
            <a:rect l="l" t="t" r="r" b="b"/>
            <a:pathLst>
              <a:path w="10545506" h="7236854">
                <a:moveTo>
                  <a:pt x="0" y="0"/>
                </a:moveTo>
                <a:lnTo>
                  <a:pt x="10545506" y="0"/>
                </a:lnTo>
                <a:lnTo>
                  <a:pt x="10545506" y="7236854"/>
                </a:lnTo>
                <a:lnTo>
                  <a:pt x="0" y="7236854"/>
                </a:lnTo>
                <a:lnTo>
                  <a:pt x="0" y="0"/>
                </a:lnTo>
                <a:close/>
              </a:path>
            </a:pathLst>
          </a:custGeom>
          <a:blipFill>
            <a:blip r:embed="rId1"/>
            <a:stretch>
              <a:fillRect/>
            </a:stretch>
          </a:blipFill>
        </p:spPr>
      </p:sp>
      <p:sp>
        <p:nvSpPr>
          <p:cNvPr id="6" name="Freeform 6"/>
          <p:cNvSpPr/>
          <p:nvPr/>
        </p:nvSpPr>
        <p:spPr>
          <a:xfrm>
            <a:off x="11574206" y="3310305"/>
            <a:ext cx="4970097" cy="1601348"/>
          </a:xfrm>
          <a:custGeom>
            <a:avLst/>
            <a:gdLst/>
            <a:ahLst/>
            <a:cxnLst/>
            <a:rect l="l" t="t" r="r" b="b"/>
            <a:pathLst>
              <a:path w="4970097" h="1601348">
                <a:moveTo>
                  <a:pt x="0" y="0"/>
                </a:moveTo>
                <a:lnTo>
                  <a:pt x="4970097" y="0"/>
                </a:lnTo>
                <a:lnTo>
                  <a:pt x="4970097" y="1601349"/>
                </a:lnTo>
                <a:lnTo>
                  <a:pt x="0" y="1601349"/>
                </a:lnTo>
                <a:lnTo>
                  <a:pt x="0" y="0"/>
                </a:lnTo>
                <a:close/>
              </a:path>
            </a:pathLst>
          </a:custGeom>
          <a:blipFill>
            <a:blip r:embed="rId2"/>
            <a:stretch>
              <a:fillRect l="-11033"/>
            </a:stretch>
          </a:blipFill>
        </p:spPr>
      </p:sp>
      <p:sp>
        <p:nvSpPr>
          <p:cNvPr id="7" name="Freeform 7"/>
          <p:cNvSpPr/>
          <p:nvPr/>
        </p:nvSpPr>
        <p:spPr>
          <a:xfrm>
            <a:off x="16033716" y="3529562"/>
            <a:ext cx="2451169" cy="856719"/>
          </a:xfrm>
          <a:custGeom>
            <a:avLst/>
            <a:gdLst/>
            <a:ahLst/>
            <a:cxnLst/>
            <a:rect l="l" t="t" r="r" b="b"/>
            <a:pathLst>
              <a:path w="2451169" h="856719">
                <a:moveTo>
                  <a:pt x="0" y="0"/>
                </a:moveTo>
                <a:lnTo>
                  <a:pt x="2451168" y="0"/>
                </a:lnTo>
                <a:lnTo>
                  <a:pt x="2451168" y="856719"/>
                </a:lnTo>
                <a:lnTo>
                  <a:pt x="0" y="856719"/>
                </a:lnTo>
                <a:lnTo>
                  <a:pt x="0" y="0"/>
                </a:lnTo>
                <a:close/>
              </a:path>
            </a:pathLst>
          </a:custGeom>
          <a:blipFill>
            <a:blip r:embed="rId3"/>
            <a:stretch>
              <a:fillRect/>
            </a:stretch>
          </a:blipFill>
        </p:spPr>
      </p:sp>
      <p:sp>
        <p:nvSpPr>
          <p:cNvPr id="8" name="Freeform 8"/>
          <p:cNvSpPr/>
          <p:nvPr/>
        </p:nvSpPr>
        <p:spPr>
          <a:xfrm>
            <a:off x="11574206" y="5787688"/>
            <a:ext cx="3912854" cy="1554590"/>
          </a:xfrm>
          <a:custGeom>
            <a:avLst/>
            <a:gdLst/>
            <a:ahLst/>
            <a:cxnLst/>
            <a:rect l="l" t="t" r="r" b="b"/>
            <a:pathLst>
              <a:path w="3912854" h="1554590">
                <a:moveTo>
                  <a:pt x="0" y="0"/>
                </a:moveTo>
                <a:lnTo>
                  <a:pt x="3912854" y="0"/>
                </a:lnTo>
                <a:lnTo>
                  <a:pt x="3912854" y="1554590"/>
                </a:lnTo>
                <a:lnTo>
                  <a:pt x="0" y="1554590"/>
                </a:lnTo>
                <a:lnTo>
                  <a:pt x="0" y="0"/>
                </a:lnTo>
                <a:close/>
              </a:path>
            </a:pathLst>
          </a:custGeom>
          <a:blipFill>
            <a:blip r:embed="rId4"/>
            <a:stretch>
              <a:fillRect l="-5947"/>
            </a:stretch>
          </a:blipFill>
        </p:spPr>
      </p:sp>
      <p:sp>
        <p:nvSpPr>
          <p:cNvPr id="9" name="Freeform 9"/>
          <p:cNvSpPr/>
          <p:nvPr/>
        </p:nvSpPr>
        <p:spPr>
          <a:xfrm>
            <a:off x="15928122" y="6147776"/>
            <a:ext cx="2575812" cy="972780"/>
          </a:xfrm>
          <a:custGeom>
            <a:avLst/>
            <a:gdLst/>
            <a:ahLst/>
            <a:cxnLst/>
            <a:rect l="l" t="t" r="r" b="b"/>
            <a:pathLst>
              <a:path w="2575812" h="972780">
                <a:moveTo>
                  <a:pt x="0" y="0"/>
                </a:moveTo>
                <a:lnTo>
                  <a:pt x="2575812" y="0"/>
                </a:lnTo>
                <a:lnTo>
                  <a:pt x="2575812" y="972780"/>
                </a:lnTo>
                <a:lnTo>
                  <a:pt x="0" y="972780"/>
                </a:lnTo>
                <a:lnTo>
                  <a:pt x="0" y="0"/>
                </a:lnTo>
                <a:close/>
              </a:path>
            </a:pathLst>
          </a:custGeom>
          <a:blipFill>
            <a:blip r:embed="rId5"/>
            <a:stretch>
              <a:fillRect/>
            </a:stretch>
          </a:blipFill>
        </p:spPr>
      </p:sp>
      <p:sp>
        <p:nvSpPr>
          <p:cNvPr id="10" name="TextBox 10"/>
          <p:cNvSpPr txBox="1"/>
          <p:nvPr/>
        </p:nvSpPr>
        <p:spPr>
          <a:xfrm>
            <a:off x="925206" y="990582"/>
            <a:ext cx="8537476" cy="1322151"/>
          </a:xfrm>
          <a:prstGeom prst="rect">
            <a:avLst/>
          </a:prstGeom>
        </p:spPr>
        <p:txBody>
          <a:bodyPr lIns="0" tIns="0" rIns="0" bIns="0" rtlCol="0" anchor="t">
            <a:spAutoFit/>
          </a:bodyPr>
          <a:lstStyle/>
          <a:p>
            <a:pPr algn="l">
              <a:lnSpc>
                <a:spcPts val="9660"/>
              </a:lnSpc>
            </a:pPr>
            <a:r>
              <a:rPr lang="en-US" sz="8470" b="1">
                <a:solidFill>
                  <a:srgbClr val="1C2120"/>
                </a:solidFill>
                <a:latin typeface="Poppins Bold" panose="00000800000000000000"/>
                <a:ea typeface="Poppins Bold" panose="00000800000000000000"/>
                <a:cs typeface="Poppins Bold" panose="00000800000000000000"/>
                <a:sym typeface="Poppins Bold" panose="00000800000000000000"/>
              </a:rPr>
              <a:t>Adding Noise</a:t>
            </a:r>
            <a:endParaRPr lang="en-US" sz="847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11" name="TextBox 11"/>
          <p:cNvSpPr txBox="1"/>
          <p:nvPr/>
        </p:nvSpPr>
        <p:spPr>
          <a:xfrm>
            <a:off x="15280295" y="9394781"/>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 -14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12" name="TextBox 12"/>
          <p:cNvSpPr txBox="1"/>
          <p:nvPr/>
        </p:nvSpPr>
        <p:spPr>
          <a:xfrm>
            <a:off x="11740807" y="2749197"/>
            <a:ext cx="4840040" cy="561109"/>
          </a:xfrm>
          <a:prstGeom prst="rect">
            <a:avLst/>
          </a:prstGeom>
        </p:spPr>
        <p:txBody>
          <a:bodyPr lIns="0" tIns="0" rIns="0" bIns="0" rtlCol="0" anchor="t">
            <a:spAutoFit/>
          </a:bodyPr>
          <a:lstStyle/>
          <a:p>
            <a:pPr algn="l">
              <a:lnSpc>
                <a:spcPts val="4145"/>
              </a:lnSpc>
            </a:pPr>
            <a:r>
              <a:rPr lang="en-US" sz="3635" b="1">
                <a:solidFill>
                  <a:srgbClr val="1C2120"/>
                </a:solidFill>
                <a:latin typeface="Poppins Bold" panose="00000800000000000000"/>
                <a:ea typeface="Poppins Bold" panose="00000800000000000000"/>
                <a:cs typeface="Poppins Bold" panose="00000800000000000000"/>
                <a:sym typeface="Poppins Bold" panose="00000800000000000000"/>
              </a:rPr>
              <a:t>Gaussian Noise</a:t>
            </a:r>
            <a:endParaRPr lang="en-US" sz="363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13" name="TextBox 13"/>
          <p:cNvSpPr txBox="1"/>
          <p:nvPr/>
        </p:nvSpPr>
        <p:spPr>
          <a:xfrm>
            <a:off x="15909072" y="3262963"/>
            <a:ext cx="439787" cy="1094743"/>
          </a:xfrm>
          <a:prstGeom prst="rect">
            <a:avLst/>
          </a:prstGeom>
        </p:spPr>
        <p:txBody>
          <a:bodyPr lIns="0" tIns="0" rIns="0" bIns="0" rtlCol="0" anchor="t">
            <a:spAutoFit/>
          </a:bodyPr>
          <a:lstStyle/>
          <a:p>
            <a:pPr algn="ctr">
              <a:lnSpc>
                <a:spcPts val="8960"/>
              </a:lnSpc>
              <a:spcBef>
                <a:spcPct val="0"/>
              </a:spcBef>
            </a:pPr>
            <a:r>
              <a:rPr lang="en-US" sz="6400">
                <a:solidFill>
                  <a:srgbClr val="C8C8C8"/>
                </a:solidFill>
                <a:latin typeface="Open Sans Light" panose="020B0306030504020204"/>
                <a:ea typeface="Open Sans Light" panose="020B0306030504020204"/>
                <a:cs typeface="Open Sans Light" panose="020B0306030504020204"/>
                <a:sym typeface="Open Sans Light" panose="020B0306030504020204"/>
              </a:rPr>
              <a:t>|</a:t>
            </a:r>
            <a:endParaRPr lang="en-US" sz="6400">
              <a:solidFill>
                <a:srgbClr val="C8C8C8"/>
              </a:solidFill>
              <a:latin typeface="Open Sans Light" panose="020B0306030504020204"/>
              <a:ea typeface="Open Sans Light" panose="020B0306030504020204"/>
              <a:cs typeface="Open Sans Light" panose="020B0306030504020204"/>
              <a:sym typeface="Open Sans Light" panose="020B0306030504020204"/>
            </a:endParaRPr>
          </a:p>
        </p:txBody>
      </p:sp>
      <p:sp>
        <p:nvSpPr>
          <p:cNvPr id="14" name="TextBox 14"/>
          <p:cNvSpPr txBox="1"/>
          <p:nvPr/>
        </p:nvSpPr>
        <p:spPr>
          <a:xfrm>
            <a:off x="11704263" y="5226580"/>
            <a:ext cx="4840040" cy="561109"/>
          </a:xfrm>
          <a:prstGeom prst="rect">
            <a:avLst/>
          </a:prstGeom>
        </p:spPr>
        <p:txBody>
          <a:bodyPr lIns="0" tIns="0" rIns="0" bIns="0" rtlCol="0" anchor="t">
            <a:spAutoFit/>
          </a:bodyPr>
          <a:lstStyle/>
          <a:p>
            <a:pPr algn="l">
              <a:lnSpc>
                <a:spcPts val="4145"/>
              </a:lnSpc>
            </a:pPr>
            <a:r>
              <a:rPr lang="en-US" sz="3635" b="1">
                <a:solidFill>
                  <a:srgbClr val="1C2120"/>
                </a:solidFill>
                <a:latin typeface="Poppins Bold" panose="00000800000000000000"/>
                <a:ea typeface="Poppins Bold" panose="00000800000000000000"/>
                <a:cs typeface="Poppins Bold" panose="00000800000000000000"/>
                <a:sym typeface="Poppins Bold" panose="00000800000000000000"/>
              </a:rPr>
              <a:t>Laplacian Noise</a:t>
            </a:r>
            <a:endParaRPr lang="en-US" sz="363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15" name="TextBox 15"/>
          <p:cNvSpPr txBox="1"/>
          <p:nvPr/>
        </p:nvSpPr>
        <p:spPr>
          <a:xfrm>
            <a:off x="15804297" y="5911513"/>
            <a:ext cx="439787" cy="1094743"/>
          </a:xfrm>
          <a:prstGeom prst="rect">
            <a:avLst/>
          </a:prstGeom>
        </p:spPr>
        <p:txBody>
          <a:bodyPr lIns="0" tIns="0" rIns="0" bIns="0" rtlCol="0" anchor="t">
            <a:spAutoFit/>
          </a:bodyPr>
          <a:lstStyle/>
          <a:p>
            <a:pPr algn="ctr">
              <a:lnSpc>
                <a:spcPts val="8960"/>
              </a:lnSpc>
              <a:spcBef>
                <a:spcPct val="0"/>
              </a:spcBef>
            </a:pPr>
            <a:r>
              <a:rPr lang="en-US" sz="6400">
                <a:solidFill>
                  <a:srgbClr val="C8C8C8"/>
                </a:solidFill>
                <a:latin typeface="Open Sans Light" panose="020B0306030504020204"/>
                <a:ea typeface="Open Sans Light" panose="020B0306030504020204"/>
                <a:cs typeface="Open Sans Light" panose="020B0306030504020204"/>
                <a:sym typeface="Open Sans Light" panose="020B0306030504020204"/>
              </a:rPr>
              <a:t>|</a:t>
            </a:r>
            <a:endParaRPr lang="en-US" sz="6400">
              <a:solidFill>
                <a:srgbClr val="C8C8C8"/>
              </a:solidFill>
              <a:latin typeface="Open Sans Light" panose="020B0306030504020204"/>
              <a:ea typeface="Open Sans Light" panose="020B0306030504020204"/>
              <a:cs typeface="Open Sans Light" panose="020B0306030504020204"/>
              <a:sym typeface="Open Sans Light" panose="020B0306030504020204"/>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rot="0">
            <a:off x="15661780" y="9258300"/>
            <a:ext cx="2174989" cy="582575"/>
            <a:chOff x="0" y="0"/>
            <a:chExt cx="572837" cy="153435"/>
          </a:xfrm>
        </p:grpSpPr>
        <p:sp>
          <p:nvSpPr>
            <p:cNvPr id="3" name="Freeform 3"/>
            <p:cNvSpPr/>
            <p:nvPr/>
          </p:nvSpPr>
          <p:spPr>
            <a:xfrm>
              <a:off x="0" y="0"/>
              <a:ext cx="572837" cy="153435"/>
            </a:xfrm>
            <a:custGeom>
              <a:avLst/>
              <a:gdLst/>
              <a:ahLst/>
              <a:cxnLst/>
              <a:rect l="l" t="t" r="r" b="b"/>
              <a:pathLst>
                <a:path w="572837" h="153435">
                  <a:moveTo>
                    <a:pt x="76718" y="0"/>
                  </a:moveTo>
                  <a:lnTo>
                    <a:pt x="496119" y="0"/>
                  </a:lnTo>
                  <a:cubicBezTo>
                    <a:pt x="516466" y="0"/>
                    <a:pt x="535979" y="8083"/>
                    <a:pt x="550366" y="22470"/>
                  </a:cubicBezTo>
                  <a:cubicBezTo>
                    <a:pt x="564754" y="36857"/>
                    <a:pt x="572837" y="56371"/>
                    <a:pt x="572837" y="76718"/>
                  </a:cubicBezTo>
                  <a:lnTo>
                    <a:pt x="572837" y="76718"/>
                  </a:lnTo>
                  <a:cubicBezTo>
                    <a:pt x="572837" y="97064"/>
                    <a:pt x="564754" y="116578"/>
                    <a:pt x="550366" y="130965"/>
                  </a:cubicBezTo>
                  <a:cubicBezTo>
                    <a:pt x="535979" y="145353"/>
                    <a:pt x="516466" y="153435"/>
                    <a:pt x="496119"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4" name="TextBox 4"/>
            <p:cNvSpPr txBox="1"/>
            <p:nvPr/>
          </p:nvSpPr>
          <p:spPr>
            <a:xfrm>
              <a:off x="0" y="-38100"/>
              <a:ext cx="572837" cy="191535"/>
            </a:xfrm>
            <a:prstGeom prst="rect">
              <a:avLst/>
            </a:prstGeom>
          </p:spPr>
          <p:txBody>
            <a:bodyPr lIns="50800" tIns="50800" rIns="50800" bIns="50800" rtlCol="0" anchor="ctr"/>
            <a:lstStyle/>
            <a:p>
              <a:pPr algn="ctr">
                <a:lnSpc>
                  <a:spcPts val="2660"/>
                </a:lnSpc>
              </a:pPr>
            </a:p>
          </p:txBody>
        </p:sp>
      </p:grpSp>
      <p:sp>
        <p:nvSpPr>
          <p:cNvPr id="5" name="Freeform 5"/>
          <p:cNvSpPr/>
          <p:nvPr/>
        </p:nvSpPr>
        <p:spPr>
          <a:xfrm>
            <a:off x="2804043" y="2173555"/>
            <a:ext cx="12679915" cy="7211702"/>
          </a:xfrm>
          <a:custGeom>
            <a:avLst/>
            <a:gdLst/>
            <a:ahLst/>
            <a:cxnLst/>
            <a:rect l="l" t="t" r="r" b="b"/>
            <a:pathLst>
              <a:path w="12679915" h="7211702">
                <a:moveTo>
                  <a:pt x="0" y="0"/>
                </a:moveTo>
                <a:lnTo>
                  <a:pt x="12679914" y="0"/>
                </a:lnTo>
                <a:lnTo>
                  <a:pt x="12679914" y="7211701"/>
                </a:lnTo>
                <a:lnTo>
                  <a:pt x="0" y="7211701"/>
                </a:lnTo>
                <a:lnTo>
                  <a:pt x="0" y="0"/>
                </a:lnTo>
                <a:close/>
              </a:path>
            </a:pathLst>
          </a:custGeom>
          <a:blipFill>
            <a:blip r:embed="rId1"/>
            <a:stretch>
              <a:fillRect/>
            </a:stretch>
          </a:blipFill>
        </p:spPr>
      </p:sp>
      <p:sp>
        <p:nvSpPr>
          <p:cNvPr id="6" name="TextBox 6"/>
          <p:cNvSpPr txBox="1"/>
          <p:nvPr/>
        </p:nvSpPr>
        <p:spPr>
          <a:xfrm>
            <a:off x="15280295" y="9394781"/>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 -14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7" name="TextBox 7"/>
          <p:cNvSpPr txBox="1"/>
          <p:nvPr/>
        </p:nvSpPr>
        <p:spPr>
          <a:xfrm>
            <a:off x="2514775" y="707944"/>
            <a:ext cx="13258450" cy="1181655"/>
          </a:xfrm>
          <a:prstGeom prst="rect">
            <a:avLst/>
          </a:prstGeom>
        </p:spPr>
        <p:txBody>
          <a:bodyPr lIns="0" tIns="0" rIns="0" bIns="0" rtlCol="0" anchor="t">
            <a:spAutoFit/>
          </a:bodyPr>
          <a:lstStyle/>
          <a:p>
            <a:pPr algn="l">
              <a:lnSpc>
                <a:spcPts val="8635"/>
              </a:lnSpc>
            </a:pPr>
            <a:r>
              <a:rPr lang="en-US" sz="7570" b="1">
                <a:solidFill>
                  <a:srgbClr val="1C2120"/>
                </a:solidFill>
                <a:latin typeface="Poppins Bold" panose="00000800000000000000"/>
                <a:ea typeface="Poppins Bold" panose="00000800000000000000"/>
                <a:cs typeface="Poppins Bold" panose="00000800000000000000"/>
                <a:sym typeface="Poppins Bold" panose="00000800000000000000"/>
              </a:rPr>
              <a:t>Denoising using ADMM</a:t>
            </a:r>
            <a:endParaRPr lang="en-US" sz="757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rot="0">
            <a:off x="15661780" y="9258300"/>
            <a:ext cx="2174989" cy="582575"/>
            <a:chOff x="0" y="0"/>
            <a:chExt cx="572837" cy="153435"/>
          </a:xfrm>
        </p:grpSpPr>
        <p:sp>
          <p:nvSpPr>
            <p:cNvPr id="3" name="Freeform 3"/>
            <p:cNvSpPr/>
            <p:nvPr/>
          </p:nvSpPr>
          <p:spPr>
            <a:xfrm>
              <a:off x="0" y="0"/>
              <a:ext cx="572837" cy="153435"/>
            </a:xfrm>
            <a:custGeom>
              <a:avLst/>
              <a:gdLst/>
              <a:ahLst/>
              <a:cxnLst/>
              <a:rect l="l" t="t" r="r" b="b"/>
              <a:pathLst>
                <a:path w="572837" h="153435">
                  <a:moveTo>
                    <a:pt x="76718" y="0"/>
                  </a:moveTo>
                  <a:lnTo>
                    <a:pt x="496119" y="0"/>
                  </a:lnTo>
                  <a:cubicBezTo>
                    <a:pt x="516466" y="0"/>
                    <a:pt x="535979" y="8083"/>
                    <a:pt x="550366" y="22470"/>
                  </a:cubicBezTo>
                  <a:cubicBezTo>
                    <a:pt x="564754" y="36857"/>
                    <a:pt x="572837" y="56371"/>
                    <a:pt x="572837" y="76718"/>
                  </a:cubicBezTo>
                  <a:lnTo>
                    <a:pt x="572837" y="76718"/>
                  </a:lnTo>
                  <a:cubicBezTo>
                    <a:pt x="572837" y="97064"/>
                    <a:pt x="564754" y="116578"/>
                    <a:pt x="550366" y="130965"/>
                  </a:cubicBezTo>
                  <a:cubicBezTo>
                    <a:pt x="535979" y="145353"/>
                    <a:pt x="516466" y="153435"/>
                    <a:pt x="496119"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4" name="TextBox 4"/>
            <p:cNvSpPr txBox="1"/>
            <p:nvPr/>
          </p:nvSpPr>
          <p:spPr>
            <a:xfrm>
              <a:off x="0" y="-38100"/>
              <a:ext cx="572837" cy="191535"/>
            </a:xfrm>
            <a:prstGeom prst="rect">
              <a:avLst/>
            </a:prstGeom>
          </p:spPr>
          <p:txBody>
            <a:bodyPr lIns="50800" tIns="50800" rIns="50800" bIns="50800" rtlCol="0" anchor="ctr"/>
            <a:lstStyle/>
            <a:p>
              <a:pPr algn="ctr">
                <a:lnSpc>
                  <a:spcPts val="2660"/>
                </a:lnSpc>
              </a:pPr>
            </a:p>
          </p:txBody>
        </p:sp>
      </p:grpSp>
      <p:sp>
        <p:nvSpPr>
          <p:cNvPr id="5" name="Freeform 5"/>
          <p:cNvSpPr/>
          <p:nvPr/>
        </p:nvSpPr>
        <p:spPr>
          <a:xfrm>
            <a:off x="3573374" y="3277111"/>
            <a:ext cx="10139832" cy="4119307"/>
          </a:xfrm>
          <a:custGeom>
            <a:avLst/>
            <a:gdLst/>
            <a:ahLst/>
            <a:cxnLst/>
            <a:rect l="l" t="t" r="r" b="b"/>
            <a:pathLst>
              <a:path w="10139832" h="4119307">
                <a:moveTo>
                  <a:pt x="0" y="0"/>
                </a:moveTo>
                <a:lnTo>
                  <a:pt x="10139833" y="0"/>
                </a:lnTo>
                <a:lnTo>
                  <a:pt x="10139833" y="4119307"/>
                </a:lnTo>
                <a:lnTo>
                  <a:pt x="0" y="4119307"/>
                </a:lnTo>
                <a:lnTo>
                  <a:pt x="0" y="0"/>
                </a:lnTo>
                <a:close/>
              </a:path>
            </a:pathLst>
          </a:custGeom>
          <a:blipFill>
            <a:blip r:embed="rId1"/>
            <a:stretch>
              <a:fillRect/>
            </a:stretch>
          </a:blipFill>
        </p:spPr>
      </p:sp>
      <p:sp>
        <p:nvSpPr>
          <p:cNvPr id="6" name="TextBox 6"/>
          <p:cNvSpPr txBox="1"/>
          <p:nvPr/>
        </p:nvSpPr>
        <p:spPr>
          <a:xfrm>
            <a:off x="15280295" y="9394781"/>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 -14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7" name="TextBox 7"/>
          <p:cNvSpPr txBox="1"/>
          <p:nvPr/>
        </p:nvSpPr>
        <p:spPr>
          <a:xfrm>
            <a:off x="1028700" y="1675336"/>
            <a:ext cx="13258450" cy="791892"/>
          </a:xfrm>
          <a:prstGeom prst="rect">
            <a:avLst/>
          </a:prstGeom>
        </p:spPr>
        <p:txBody>
          <a:bodyPr lIns="0" tIns="0" rIns="0" bIns="0" rtlCol="0" anchor="t">
            <a:spAutoFit/>
          </a:bodyPr>
          <a:lstStyle/>
          <a:p>
            <a:pPr algn="l">
              <a:lnSpc>
                <a:spcPts val="5895"/>
              </a:lnSpc>
            </a:pPr>
            <a:r>
              <a:rPr lang="en-US" sz="5170" b="1">
                <a:solidFill>
                  <a:srgbClr val="1C2120"/>
                </a:solidFill>
                <a:latin typeface="Poppins Bold" panose="00000800000000000000"/>
                <a:ea typeface="Poppins Bold" panose="00000800000000000000"/>
                <a:cs typeface="Poppins Bold" panose="00000800000000000000"/>
                <a:sym typeface="Poppins Bold" panose="00000800000000000000"/>
              </a:rPr>
              <a:t>Updated equation summary</a:t>
            </a:r>
            <a:endParaRPr lang="en-US" sz="5170"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5661780" y="9258300"/>
            <a:ext cx="2174989" cy="582575"/>
            <a:chOff x="0" y="0"/>
            <a:chExt cx="572837" cy="153435"/>
          </a:xfrm>
        </p:grpSpPr>
        <p:sp>
          <p:nvSpPr>
            <p:cNvPr id="3" name="Freeform 3"/>
            <p:cNvSpPr/>
            <p:nvPr/>
          </p:nvSpPr>
          <p:spPr>
            <a:xfrm>
              <a:off x="0" y="0"/>
              <a:ext cx="572837" cy="153435"/>
            </a:xfrm>
            <a:custGeom>
              <a:avLst/>
              <a:gdLst/>
              <a:ahLst/>
              <a:cxnLst/>
              <a:rect l="l" t="t" r="r" b="b"/>
              <a:pathLst>
                <a:path w="572837" h="153435">
                  <a:moveTo>
                    <a:pt x="76718" y="0"/>
                  </a:moveTo>
                  <a:lnTo>
                    <a:pt x="496119" y="0"/>
                  </a:lnTo>
                  <a:cubicBezTo>
                    <a:pt x="516466" y="0"/>
                    <a:pt x="535979" y="8083"/>
                    <a:pt x="550366" y="22470"/>
                  </a:cubicBezTo>
                  <a:cubicBezTo>
                    <a:pt x="564754" y="36857"/>
                    <a:pt x="572837" y="56371"/>
                    <a:pt x="572837" y="76718"/>
                  </a:cubicBezTo>
                  <a:lnTo>
                    <a:pt x="572837" y="76718"/>
                  </a:lnTo>
                  <a:cubicBezTo>
                    <a:pt x="572837" y="97064"/>
                    <a:pt x="564754" y="116578"/>
                    <a:pt x="550366" y="130965"/>
                  </a:cubicBezTo>
                  <a:cubicBezTo>
                    <a:pt x="535979" y="145353"/>
                    <a:pt x="516466" y="153435"/>
                    <a:pt x="496119"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id="4" name="TextBox 4"/>
            <p:cNvSpPr txBox="1"/>
            <p:nvPr/>
          </p:nvSpPr>
          <p:spPr>
            <a:xfrm>
              <a:off x="0" y="-38100"/>
              <a:ext cx="572837" cy="191535"/>
            </a:xfrm>
            <a:prstGeom prst="rect">
              <a:avLst/>
            </a:prstGeom>
          </p:spPr>
          <p:txBody>
            <a:bodyPr lIns="50800" tIns="50800" rIns="50800" bIns="50800" rtlCol="0" anchor="ctr"/>
            <a:lstStyle/>
            <a:p>
              <a:pPr algn="ctr">
                <a:lnSpc>
                  <a:spcPts val="2660"/>
                </a:lnSpc>
              </a:pPr>
            </a:p>
          </p:txBody>
        </p:sp>
      </p:grpSp>
      <p:sp>
        <p:nvSpPr>
          <p:cNvPr id="5" name="Freeform 5"/>
          <p:cNvSpPr/>
          <p:nvPr/>
        </p:nvSpPr>
        <p:spPr>
          <a:xfrm>
            <a:off x="512419" y="3052969"/>
            <a:ext cx="8241691" cy="5655861"/>
          </a:xfrm>
          <a:custGeom>
            <a:avLst/>
            <a:gdLst/>
            <a:ahLst/>
            <a:cxnLst/>
            <a:rect l="l" t="t" r="r" b="b"/>
            <a:pathLst>
              <a:path w="8241691" h="5655861">
                <a:moveTo>
                  <a:pt x="0" y="0"/>
                </a:moveTo>
                <a:lnTo>
                  <a:pt x="8241692" y="0"/>
                </a:lnTo>
                <a:lnTo>
                  <a:pt x="8241692" y="5655861"/>
                </a:lnTo>
                <a:lnTo>
                  <a:pt x="0" y="5655861"/>
                </a:lnTo>
                <a:lnTo>
                  <a:pt x="0" y="0"/>
                </a:lnTo>
                <a:close/>
              </a:path>
            </a:pathLst>
          </a:custGeom>
          <a:blipFill>
            <a:blip r:embed="rId1"/>
            <a:stretch>
              <a:fillRect/>
            </a:stretch>
          </a:blipFill>
        </p:spPr>
      </p:sp>
      <p:sp>
        <p:nvSpPr>
          <p:cNvPr id="6" name="Freeform 6"/>
          <p:cNvSpPr/>
          <p:nvPr/>
        </p:nvSpPr>
        <p:spPr>
          <a:xfrm>
            <a:off x="9144000" y="3052969"/>
            <a:ext cx="8241691" cy="5655861"/>
          </a:xfrm>
          <a:custGeom>
            <a:avLst/>
            <a:gdLst/>
            <a:ahLst/>
            <a:cxnLst/>
            <a:rect l="l" t="t" r="r" b="b"/>
            <a:pathLst>
              <a:path w="8241691" h="5655861">
                <a:moveTo>
                  <a:pt x="0" y="0"/>
                </a:moveTo>
                <a:lnTo>
                  <a:pt x="8241691" y="0"/>
                </a:lnTo>
                <a:lnTo>
                  <a:pt x="8241691" y="5655861"/>
                </a:lnTo>
                <a:lnTo>
                  <a:pt x="0" y="5655861"/>
                </a:lnTo>
                <a:lnTo>
                  <a:pt x="0" y="0"/>
                </a:lnTo>
                <a:close/>
              </a:path>
            </a:pathLst>
          </a:custGeom>
          <a:blipFill>
            <a:blip r:embed="rId2"/>
            <a:stretch>
              <a:fillRect/>
            </a:stretch>
          </a:blipFill>
        </p:spPr>
      </p:sp>
      <p:sp>
        <p:nvSpPr>
          <p:cNvPr id="7" name="TextBox 7"/>
          <p:cNvSpPr txBox="1"/>
          <p:nvPr/>
        </p:nvSpPr>
        <p:spPr>
          <a:xfrm>
            <a:off x="1204936" y="1216809"/>
            <a:ext cx="7328744" cy="1121306"/>
          </a:xfrm>
          <a:prstGeom prst="rect">
            <a:avLst/>
          </a:prstGeom>
        </p:spPr>
        <p:txBody>
          <a:bodyPr lIns="0" tIns="0" rIns="0" bIns="0" rtlCol="0" anchor="t">
            <a:spAutoFit/>
          </a:bodyPr>
          <a:lstStyle/>
          <a:p>
            <a:pPr algn="l">
              <a:lnSpc>
                <a:spcPts val="8290"/>
              </a:lnSpc>
            </a:pPr>
            <a:r>
              <a:rPr lang="en-US" sz="7275" b="1">
                <a:solidFill>
                  <a:srgbClr val="1C2120"/>
                </a:solidFill>
                <a:latin typeface="Poppins Bold" panose="00000800000000000000"/>
                <a:ea typeface="Poppins Bold" panose="00000800000000000000"/>
                <a:cs typeface="Poppins Bold" panose="00000800000000000000"/>
                <a:sym typeface="Poppins Bold" panose="00000800000000000000"/>
              </a:rPr>
              <a:t>Noised signal</a:t>
            </a:r>
            <a:endParaRPr lang="en-US" sz="727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
        <p:nvSpPr>
          <p:cNvPr id="8" name="TextBox 8"/>
          <p:cNvSpPr txBox="1"/>
          <p:nvPr/>
        </p:nvSpPr>
        <p:spPr>
          <a:xfrm>
            <a:off x="15280295" y="9394781"/>
            <a:ext cx="3007705" cy="319137"/>
          </a:xfrm>
          <a:prstGeom prst="rect">
            <a:avLst/>
          </a:prstGeom>
        </p:spPr>
        <p:txBody>
          <a:bodyPr lIns="0" tIns="0" rIns="0" bIns="0" rtlCol="0" anchor="t">
            <a:spAutoFit/>
          </a:bodyPr>
          <a:lstStyle/>
          <a:p>
            <a:pPr algn="ctr">
              <a:lnSpc>
                <a:spcPts val="2365"/>
              </a:lnSpc>
            </a:pPr>
            <a:r>
              <a:rPr lang="en-US" sz="2190">
                <a:solidFill>
                  <a:srgbClr val="1C2120"/>
                </a:solidFill>
                <a:latin typeface="Poppins" panose="00000500000000000000"/>
                <a:ea typeface="Poppins" panose="00000500000000000000"/>
                <a:cs typeface="Poppins" panose="00000500000000000000"/>
                <a:sym typeface="Poppins" panose="00000500000000000000"/>
              </a:rPr>
              <a:t>Group -14</a:t>
            </a:r>
            <a:endParaRPr lang="en-US" sz="2190">
              <a:solidFill>
                <a:srgbClr val="1C2120"/>
              </a:solidFill>
              <a:latin typeface="Poppins" panose="00000500000000000000"/>
              <a:ea typeface="Poppins" panose="00000500000000000000"/>
              <a:cs typeface="Poppins" panose="00000500000000000000"/>
              <a:sym typeface="Poppins" panose="00000500000000000000"/>
            </a:endParaRPr>
          </a:p>
        </p:txBody>
      </p:sp>
      <p:sp>
        <p:nvSpPr>
          <p:cNvPr id="9" name="TextBox 9"/>
          <p:cNvSpPr txBox="1"/>
          <p:nvPr/>
        </p:nvSpPr>
        <p:spPr>
          <a:xfrm>
            <a:off x="9817044" y="1226334"/>
            <a:ext cx="7328744" cy="1002587"/>
          </a:xfrm>
          <a:prstGeom prst="rect">
            <a:avLst/>
          </a:prstGeom>
        </p:spPr>
        <p:txBody>
          <a:bodyPr lIns="0" tIns="0" rIns="0" bIns="0" rtlCol="0" anchor="t">
            <a:spAutoFit/>
          </a:bodyPr>
          <a:lstStyle/>
          <a:p>
            <a:pPr algn="l">
              <a:lnSpc>
                <a:spcPts val="7495"/>
              </a:lnSpc>
            </a:pPr>
            <a:r>
              <a:rPr lang="en-US" sz="6575" b="1">
                <a:solidFill>
                  <a:srgbClr val="1C2120"/>
                </a:solidFill>
                <a:latin typeface="Poppins Bold" panose="00000800000000000000"/>
                <a:ea typeface="Poppins Bold" panose="00000800000000000000"/>
                <a:cs typeface="Poppins Bold" panose="00000800000000000000"/>
                <a:sym typeface="Poppins Bold" panose="00000800000000000000"/>
              </a:rPr>
              <a:t>Denoised signal</a:t>
            </a:r>
            <a:endParaRPr lang="en-US" sz="657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AD7D4"/>
        </a:solidFill>
        <a:effectLst/>
      </p:bgPr>
    </p:bg>
    <p:spTree>
      <p:nvGrpSpPr>
        <p:cNvPr id="1" name=""/>
        <p:cNvGrpSpPr/>
        <p:nvPr/>
      </p:nvGrpSpPr>
      <p:grpSpPr>
        <a:xfrm>
          <a:off x="0" y="0"/>
          <a:ext cx="0" cy="0"/>
          <a:chOff x="0" y="0"/>
          <a:chExt cx="0" cy="0"/>
        </a:xfrm>
      </p:grpSpPr>
      <p:sp>
        <p:nvSpPr>
          <p:cNvPr id="2" name="TextBox 2"/>
          <p:cNvSpPr txBox="1"/>
          <p:nvPr/>
        </p:nvSpPr>
        <p:spPr>
          <a:xfrm>
            <a:off x="3182017" y="3400568"/>
            <a:ext cx="11923966" cy="2888952"/>
          </a:xfrm>
          <a:prstGeom prst="rect">
            <a:avLst/>
          </a:prstGeom>
        </p:spPr>
        <p:txBody>
          <a:bodyPr lIns="0" tIns="0" rIns="0" bIns="0" rtlCol="0" anchor="t">
            <a:spAutoFit/>
          </a:bodyPr>
          <a:lstStyle/>
          <a:p>
            <a:pPr algn="ctr">
              <a:lnSpc>
                <a:spcPts val="10460"/>
              </a:lnSpc>
            </a:pPr>
            <a:r>
              <a:rPr lang="en-US" sz="12025" b="1">
                <a:solidFill>
                  <a:srgbClr val="1C2120"/>
                </a:solidFill>
                <a:latin typeface="Poppins Bold" panose="00000800000000000000"/>
                <a:ea typeface="Poppins Bold" panose="00000800000000000000"/>
                <a:cs typeface="Poppins Bold" panose="00000800000000000000"/>
                <a:sym typeface="Poppins Bold" panose="00000800000000000000"/>
              </a:rPr>
              <a:t>Thank you very much!</a:t>
            </a:r>
            <a:endParaRPr lang="en-US" sz="12025" b="1">
              <a:solidFill>
                <a:srgbClr val="1C212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3314</Words>
  <Application>WPS Presentation</Application>
  <PresentationFormat>On-screen Show (4:3)</PresentationFormat>
  <Paragraphs>117</Paragraphs>
  <Slides>12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Poppins</vt:lpstr>
      <vt:lpstr>Bobby Jones</vt:lpstr>
      <vt:lpstr>Poppins Bold</vt:lpstr>
      <vt:lpstr>Arial</vt:lpstr>
      <vt:lpstr>DM Sans</vt:lpstr>
      <vt:lpstr>Open Sans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Minimalist Project Presentation</dc:title>
  <dc:creator/>
  <cp:lastModifiedBy>RAVISHANMUGAM K</cp:lastModifiedBy>
  <cp:revision>2</cp:revision>
  <dcterms:created xsi:type="dcterms:W3CDTF">2006-08-16T00:00:00Z</dcterms:created>
  <dcterms:modified xsi:type="dcterms:W3CDTF">2026-03-29T06:17:38Z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E63E2F0396D140419B9A98236F633D39_12</vt:lpwstr>
  </property>
  <property fmtid="{D5CDD505-2E9C-101B-9397-08002B2CF9AE}" pid="3" name="KSOProductBuildVer">
    <vt:lpwstr>2057-12.2.0.23197</vt:lpwstr>
  </property>
</Properties>
</file>